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60" r:id="rId2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0C873F-DC00-4B4D-AA6F-92C955A8345C}">
  <a:tblStyle styleId="{590C873F-DC00-4B4D-AA6F-92C955A834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68"/>
    <p:restoredTop sz="74433"/>
  </p:normalViewPr>
  <p:slideViewPr>
    <p:cSldViewPr snapToGrid="0">
      <p:cViewPr>
        <p:scale>
          <a:sx n="20" d="100"/>
          <a:sy n="20" d="100"/>
        </p:scale>
        <p:origin x="1416" y="60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54C50B3B-F611-6A4D-AAE2-BFE1DF30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>
            <a:extLst>
              <a:ext uri="{FF2B5EF4-FFF2-40B4-BE49-F238E27FC236}">
                <a16:creationId xmlns:a16="http://schemas.microsoft.com/office/drawing/2014/main" id="{91BBC178-6ECB-7080-743F-99CAD47872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4" name="Google Shape;54;p:notes">
            <a:extLst>
              <a:ext uri="{FF2B5EF4-FFF2-40B4-BE49-F238E27FC236}">
                <a16:creationId xmlns:a16="http://schemas.microsoft.com/office/drawing/2014/main" id="{AD20BFD7-CA7A-C5CF-F1DC-04F4EEB550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4633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496200" y="4765280"/>
            <a:ext cx="40899000" cy="131367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496160" y="18138400"/>
            <a:ext cx="40899000" cy="5072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280875" y="-196600"/>
            <a:ext cx="44490300" cy="33396000"/>
          </a:xfrm>
          <a:prstGeom prst="rect">
            <a:avLst/>
          </a:prstGeom>
          <a:solidFill>
            <a:srgbClr val="0039A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43000" y="435350"/>
            <a:ext cx="42805200" cy="3213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2pPr>
            <a:lvl3pPr marL="1371600" lvl="2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3pPr>
            <a:lvl4pPr marL="1828800" lvl="3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4pPr>
            <a:lvl5pPr marL="2286000" lvl="4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5pPr>
            <a:lvl6pPr marL="2743200" lvl="5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6pPr>
            <a:lvl7pPr marL="3200400" lvl="6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7pPr>
            <a:lvl8pPr marL="3657600" lvl="7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8pPr>
            <a:lvl9pPr marL="4114800" lvl="8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r">
              <a:buNone/>
              <a:defRPr sz="5300">
                <a:solidFill>
                  <a:schemeClr val="dk2"/>
                </a:solidFill>
              </a:defRPr>
            </a:lvl1pPr>
            <a:lvl2pPr lvl="1" algn="r">
              <a:buNone/>
              <a:defRPr sz="5300">
                <a:solidFill>
                  <a:schemeClr val="dk2"/>
                </a:solidFill>
              </a:defRPr>
            </a:lvl2pPr>
            <a:lvl3pPr lvl="2" algn="r">
              <a:buNone/>
              <a:defRPr sz="5300">
                <a:solidFill>
                  <a:schemeClr val="dk2"/>
                </a:solidFill>
              </a:defRPr>
            </a:lvl3pPr>
            <a:lvl4pPr lvl="3" algn="r">
              <a:buNone/>
              <a:defRPr sz="5300">
                <a:solidFill>
                  <a:schemeClr val="dk2"/>
                </a:solidFill>
              </a:defRPr>
            </a:lvl4pPr>
            <a:lvl5pPr lvl="4" algn="r">
              <a:buNone/>
              <a:defRPr sz="5300">
                <a:solidFill>
                  <a:schemeClr val="dk2"/>
                </a:solidFill>
              </a:defRPr>
            </a:lvl5pPr>
            <a:lvl6pPr lvl="5" algn="r">
              <a:buNone/>
              <a:defRPr sz="5300">
                <a:solidFill>
                  <a:schemeClr val="dk2"/>
                </a:solidFill>
              </a:defRPr>
            </a:lvl6pPr>
            <a:lvl7pPr lvl="6" algn="r">
              <a:buNone/>
              <a:defRPr sz="5300">
                <a:solidFill>
                  <a:schemeClr val="dk2"/>
                </a:solidFill>
              </a:defRPr>
            </a:lvl7pPr>
            <a:lvl8pPr lvl="7" algn="r">
              <a:buNone/>
              <a:defRPr sz="5300">
                <a:solidFill>
                  <a:schemeClr val="dk2"/>
                </a:solidFill>
              </a:defRPr>
            </a:lvl8pPr>
            <a:lvl9pPr lvl="8" algn="r">
              <a:buNone/>
              <a:defRPr sz="5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8.02002" TargetMode="External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9E55331E-2CC2-9C5E-C232-C7959332D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E6C2759D-B4FA-5E1E-967E-7D552AA62F57}"/>
              </a:ext>
            </a:extLst>
          </p:cNvPr>
          <p:cNvSpPr txBox="1"/>
          <p:nvPr/>
        </p:nvSpPr>
        <p:spPr>
          <a:xfrm>
            <a:off x="6704601" y="1045448"/>
            <a:ext cx="36227100" cy="3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575" tIns="487575" rIns="487575" bIns="487575" anchor="ctr" anchorCtr="0">
            <a:noAutofit/>
          </a:bodyPr>
          <a:lstStyle/>
          <a:p>
            <a:pPr lvl="0" algn="ctr"/>
            <a:r>
              <a:rPr lang="en-US" sz="14900" dirty="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Dimensionality Reduction and Classifier Design for </a:t>
            </a:r>
            <a:r>
              <a:rPr lang="en-US" sz="14900" dirty="0" err="1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MultiROCKET</a:t>
            </a:r>
            <a:r>
              <a:rPr lang="en-US" sz="14900" dirty="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-Based ECG Classification</a:t>
            </a:r>
            <a:endParaRPr sz="14900" dirty="0">
              <a:solidFill>
                <a:srgbClr val="0039A6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ED1D17B6-B06B-7890-F296-A729D57F4801}"/>
              </a:ext>
            </a:extLst>
          </p:cNvPr>
          <p:cNvSpPr txBox="1"/>
          <p:nvPr/>
        </p:nvSpPr>
        <p:spPr>
          <a:xfrm>
            <a:off x="3456879" y="5583239"/>
            <a:ext cx="376614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575" tIns="487575" rIns="487575" bIns="487575" anchor="ctr" anchorCtr="0">
            <a:noAutofit/>
          </a:bodyPr>
          <a:lstStyle/>
          <a:p>
            <a:pPr lvl="0" algn="ctr">
              <a:lnSpc>
                <a:spcPct val="115000"/>
              </a:lnSpc>
              <a:spcAft>
                <a:spcPts val="6500"/>
              </a:spcAft>
            </a:pPr>
            <a:r>
              <a:rPr lang="en" sz="6700" dirty="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Team 12: Ramita Rathore, </a:t>
            </a:r>
            <a:r>
              <a:rPr lang="en-US" sz="6700" dirty="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Jacob Cartwright, Hussain Manasi</a:t>
            </a:r>
            <a:endParaRPr sz="6700" dirty="0">
              <a:solidFill>
                <a:srgbClr val="0039A6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455941C9-A17F-6583-D2D2-F7463FE220DF}"/>
              </a:ext>
            </a:extLst>
          </p:cNvPr>
          <p:cNvSpPr txBox="1"/>
          <p:nvPr/>
        </p:nvSpPr>
        <p:spPr>
          <a:xfrm>
            <a:off x="1874901" y="6697260"/>
            <a:ext cx="96594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174175" rIns="174175" bIns="174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 dirty="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INTRODUCTION</a:t>
            </a:r>
            <a:endParaRPr sz="7600" dirty="0">
              <a:solidFill>
                <a:srgbClr val="0039A6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8DB0B77B-11BA-4021-EAB2-08A867C58776}"/>
              </a:ext>
            </a:extLst>
          </p:cNvPr>
          <p:cNvSpPr txBox="1"/>
          <p:nvPr/>
        </p:nvSpPr>
        <p:spPr>
          <a:xfrm>
            <a:off x="1874901" y="10001059"/>
            <a:ext cx="9659400" cy="3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174175" rIns="174175" bIns="174175" anchor="t" anchorCtr="0">
            <a:noAutofit/>
          </a:bodyPr>
          <a:lstStyle/>
          <a:p>
            <a:pPr lvl="0"/>
            <a:r>
              <a:rPr lang="en-US" sz="4000" dirty="0"/>
              <a:t>We investigate how to effectively compress high-dimensional MultiROCKET</a:t>
            </a:r>
            <a:r>
              <a:rPr lang="en-US" sz="4000" baseline="300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1,2</a:t>
            </a:r>
            <a:r>
              <a:rPr lang="en-US" sz="4000" dirty="0"/>
              <a:t> features for 12-lead ECG classification with a </a:t>
            </a:r>
            <a:r>
              <a:rPr lang="en-US" sz="4000" b="1" dirty="0"/>
              <a:t>2×2 ablation</a:t>
            </a:r>
            <a:r>
              <a:rPr lang="en-US" sz="4000" dirty="0"/>
              <a:t> comparing autoencoder vs. structured pooling and MLP vs. FT-Transformer</a:t>
            </a:r>
            <a:r>
              <a:rPr lang="en-US" sz="4000" baseline="30000" dirty="0"/>
              <a:t>3</a:t>
            </a:r>
            <a:r>
              <a:rPr lang="en-US" sz="4000" dirty="0"/>
              <a:t>.</a:t>
            </a:r>
          </a:p>
          <a:p>
            <a:pPr lvl="0"/>
            <a:endParaRPr lang="en-US" sz="4000" dirty="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lvl="0"/>
            <a:endParaRPr sz="3800" dirty="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" name="Google Shape;61;p13">
            <a:extLst>
              <a:ext uri="{FF2B5EF4-FFF2-40B4-BE49-F238E27FC236}">
                <a16:creationId xmlns:a16="http://schemas.microsoft.com/office/drawing/2014/main" id="{3BAE7204-C555-0154-735F-3EE33639B270}"/>
              </a:ext>
            </a:extLst>
          </p:cNvPr>
          <p:cNvSpPr txBox="1"/>
          <p:nvPr/>
        </p:nvSpPr>
        <p:spPr>
          <a:xfrm>
            <a:off x="12030365" y="16129523"/>
            <a:ext cx="9659400" cy="12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174175" rIns="174175" bIns="174175" anchor="ctr" anchorCtr="0">
            <a:noAutofit/>
          </a:bodyPr>
          <a:lstStyle/>
          <a:p>
            <a:pPr lvl="0"/>
            <a:r>
              <a:rPr lang="en" sz="6100" dirty="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METHODOLOGY</a:t>
            </a:r>
            <a:endParaRPr sz="6100" dirty="0">
              <a:solidFill>
                <a:srgbClr val="0039A6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5" name="Google Shape;65;p13">
            <a:extLst>
              <a:ext uri="{FF2B5EF4-FFF2-40B4-BE49-F238E27FC236}">
                <a16:creationId xmlns:a16="http://schemas.microsoft.com/office/drawing/2014/main" id="{70361807-A47A-D95B-C744-995CB6D73DEA}"/>
              </a:ext>
            </a:extLst>
          </p:cNvPr>
          <p:cNvSpPr txBox="1"/>
          <p:nvPr/>
        </p:nvSpPr>
        <p:spPr>
          <a:xfrm>
            <a:off x="1874901" y="27351599"/>
            <a:ext cx="9659400" cy="10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0" rIns="1741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 dirty="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OBJECTIVES</a:t>
            </a:r>
            <a:endParaRPr sz="6100" dirty="0">
              <a:solidFill>
                <a:srgbClr val="0039A6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6" name="Google Shape;66;p13">
            <a:extLst>
              <a:ext uri="{FF2B5EF4-FFF2-40B4-BE49-F238E27FC236}">
                <a16:creationId xmlns:a16="http://schemas.microsoft.com/office/drawing/2014/main" id="{C4D281AA-9AD6-18FA-BA44-848A00FF6853}"/>
              </a:ext>
            </a:extLst>
          </p:cNvPr>
          <p:cNvSpPr txBox="1"/>
          <p:nvPr/>
        </p:nvSpPr>
        <p:spPr>
          <a:xfrm>
            <a:off x="1874901" y="28476026"/>
            <a:ext cx="9659400" cy="3342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174175" rIns="870975" bIns="174175" anchor="t" anchorCtr="0">
            <a:noAutofit/>
          </a:bodyPr>
          <a:lstStyle/>
          <a:p>
            <a:pPr marL="876300" lvl="0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Font typeface="Proxima Nova"/>
              <a:buChar char="●"/>
            </a:pPr>
            <a:r>
              <a:rPr lang="en-US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Does autoencoder compression outperform structured pooling?</a:t>
            </a:r>
          </a:p>
          <a:p>
            <a:pPr marL="876300" lvl="0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Font typeface="Proxima Nova"/>
              <a:buChar char="●"/>
            </a:pPr>
            <a:r>
              <a:rPr lang="en-US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Does FT-Transformer</a:t>
            </a:r>
            <a:r>
              <a:rPr lang="en-US" sz="3800" baseline="300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-US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 outperform MLP?</a:t>
            </a:r>
          </a:p>
          <a:p>
            <a:pPr marL="876300" lvl="0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Font typeface="Proxima Nova"/>
              <a:buChar char="●"/>
            </a:pPr>
            <a:r>
              <a:rPr lang="en-US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How do these choices interact?</a:t>
            </a:r>
            <a:endParaRPr sz="3800" dirty="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13">
            <a:extLst>
              <a:ext uri="{FF2B5EF4-FFF2-40B4-BE49-F238E27FC236}">
                <a16:creationId xmlns:a16="http://schemas.microsoft.com/office/drawing/2014/main" id="{D0E95C00-D39C-1864-9A69-6E78259022F3}"/>
              </a:ext>
            </a:extLst>
          </p:cNvPr>
          <p:cNvSpPr txBox="1"/>
          <p:nvPr/>
        </p:nvSpPr>
        <p:spPr>
          <a:xfrm>
            <a:off x="32378809" y="6697260"/>
            <a:ext cx="96594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174175" rIns="174175" bIns="174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CONCLUSIONS</a:t>
            </a:r>
            <a:endParaRPr sz="9000">
              <a:solidFill>
                <a:srgbClr val="0039A6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75" name="Google Shape;75;p13">
            <a:extLst>
              <a:ext uri="{FF2B5EF4-FFF2-40B4-BE49-F238E27FC236}">
                <a16:creationId xmlns:a16="http://schemas.microsoft.com/office/drawing/2014/main" id="{CE7A53F3-3F2D-AACC-D9E5-63968796B8EA}"/>
              </a:ext>
            </a:extLst>
          </p:cNvPr>
          <p:cNvSpPr txBox="1"/>
          <p:nvPr/>
        </p:nvSpPr>
        <p:spPr>
          <a:xfrm>
            <a:off x="32378809" y="8814221"/>
            <a:ext cx="9659400" cy="12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174175" rIns="174175" bIns="174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 dirty="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RESULTS</a:t>
            </a:r>
            <a:endParaRPr sz="6100" dirty="0">
              <a:solidFill>
                <a:srgbClr val="0039A6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76" name="Google Shape;76;p13">
            <a:extLst>
              <a:ext uri="{FF2B5EF4-FFF2-40B4-BE49-F238E27FC236}">
                <a16:creationId xmlns:a16="http://schemas.microsoft.com/office/drawing/2014/main" id="{45EDEBBF-DF6A-F062-8476-3F491771C254}"/>
              </a:ext>
            </a:extLst>
          </p:cNvPr>
          <p:cNvSpPr txBox="1"/>
          <p:nvPr/>
        </p:nvSpPr>
        <p:spPr>
          <a:xfrm>
            <a:off x="32378809" y="10001059"/>
            <a:ext cx="9659400" cy="3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174175" rIns="174175" bIns="174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FILL IN</a:t>
            </a:r>
            <a:endParaRPr sz="3800" dirty="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3">
            <a:extLst>
              <a:ext uri="{FF2B5EF4-FFF2-40B4-BE49-F238E27FC236}">
                <a16:creationId xmlns:a16="http://schemas.microsoft.com/office/drawing/2014/main" id="{C27D0D34-D3C4-5171-7455-A902DE8963D0}"/>
              </a:ext>
            </a:extLst>
          </p:cNvPr>
          <p:cNvSpPr txBox="1"/>
          <p:nvPr/>
        </p:nvSpPr>
        <p:spPr>
          <a:xfrm>
            <a:off x="32378809" y="17934316"/>
            <a:ext cx="9659400" cy="10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174175" rIns="174175" bIns="174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 dirty="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CLASS IMBALANCE</a:t>
            </a:r>
            <a:endParaRPr sz="6100" dirty="0">
              <a:solidFill>
                <a:srgbClr val="0039A6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78" name="Google Shape;78;p13">
            <a:extLst>
              <a:ext uri="{FF2B5EF4-FFF2-40B4-BE49-F238E27FC236}">
                <a16:creationId xmlns:a16="http://schemas.microsoft.com/office/drawing/2014/main" id="{CF53A16D-9A3A-7FAA-6402-5ECB18DC4BC0}"/>
              </a:ext>
            </a:extLst>
          </p:cNvPr>
          <p:cNvSpPr txBox="1"/>
          <p:nvPr/>
        </p:nvSpPr>
        <p:spPr>
          <a:xfrm>
            <a:off x="32378809" y="19029764"/>
            <a:ext cx="9659400" cy="24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174175" rIns="174175" bIns="174175" anchor="t" anchorCtr="0">
            <a:noAutofit/>
          </a:bodyPr>
          <a:lstStyle/>
          <a:p>
            <a:pPr marL="876300" lvl="0" indent="-6858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Font typeface="Proxima Nova"/>
              <a:buChar char="●"/>
            </a:pPr>
            <a:r>
              <a:rPr lang="en-US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Weighted Cross Entropy Loss</a:t>
            </a:r>
          </a:p>
          <a:p>
            <a:pPr marL="876300" lvl="0" indent="-6858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Font typeface="Proxima Nova"/>
              <a:buChar char="●"/>
            </a:pPr>
            <a:r>
              <a:rPr lang="en-US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Class-balanced Focal Loss</a:t>
            </a:r>
            <a:r>
              <a:rPr lang="en-US" sz="3800" baseline="300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5,6</a:t>
            </a:r>
          </a:p>
          <a:p>
            <a:pPr marL="876300" lvl="0" indent="-6858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Font typeface="Proxima Nova"/>
              <a:buChar char="●"/>
            </a:pPr>
            <a:r>
              <a:rPr lang="en-US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SMOTEENN</a:t>
            </a:r>
            <a:r>
              <a:rPr lang="en-US" sz="3800" baseline="300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7</a:t>
            </a:r>
          </a:p>
          <a:p>
            <a:pPr marL="876300" lvl="0" indent="-6858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Font typeface="Proxima Nova"/>
              <a:buChar char="●"/>
            </a:pPr>
            <a:endParaRPr sz="3800" dirty="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3">
            <a:extLst>
              <a:ext uri="{FF2B5EF4-FFF2-40B4-BE49-F238E27FC236}">
                <a16:creationId xmlns:a16="http://schemas.microsoft.com/office/drawing/2014/main" id="{F8B32842-D44E-982D-3385-34F2ABC2B206}"/>
              </a:ext>
            </a:extLst>
          </p:cNvPr>
          <p:cNvSpPr txBox="1"/>
          <p:nvPr/>
        </p:nvSpPr>
        <p:spPr>
          <a:xfrm>
            <a:off x="32378809" y="24146442"/>
            <a:ext cx="9659400" cy="10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174175" rIns="174175" bIns="174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 dirty="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ANALYSIS</a:t>
            </a:r>
            <a:endParaRPr sz="6100" dirty="0">
              <a:solidFill>
                <a:srgbClr val="0039A6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80" name="Google Shape;80;p13">
            <a:extLst>
              <a:ext uri="{FF2B5EF4-FFF2-40B4-BE49-F238E27FC236}">
                <a16:creationId xmlns:a16="http://schemas.microsoft.com/office/drawing/2014/main" id="{6FA50B46-53B7-217B-E8E7-BECA1D02F01E}"/>
              </a:ext>
            </a:extLst>
          </p:cNvPr>
          <p:cNvSpPr txBox="1"/>
          <p:nvPr/>
        </p:nvSpPr>
        <p:spPr>
          <a:xfrm>
            <a:off x="32378809" y="25335162"/>
            <a:ext cx="9659400" cy="3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174175" rIns="174175" bIns="174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FILL IN</a:t>
            </a:r>
            <a:endParaRPr sz="3800" dirty="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3800" dirty="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800" dirty="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3">
            <a:extLst>
              <a:ext uri="{FF2B5EF4-FFF2-40B4-BE49-F238E27FC236}">
                <a16:creationId xmlns:a16="http://schemas.microsoft.com/office/drawing/2014/main" id="{9C79AD4F-A21C-F878-23D6-C8981A679536}"/>
              </a:ext>
            </a:extLst>
          </p:cNvPr>
          <p:cNvSpPr txBox="1"/>
          <p:nvPr/>
        </p:nvSpPr>
        <p:spPr>
          <a:xfrm>
            <a:off x="32465081" y="29560377"/>
            <a:ext cx="9659400" cy="10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4175" rIns="174175" bIns="174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 dirty="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REFERENCES</a:t>
            </a:r>
            <a:endParaRPr sz="6100" dirty="0">
              <a:solidFill>
                <a:srgbClr val="0039A6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82" name="Google Shape;82;p13">
            <a:extLst>
              <a:ext uri="{FF2B5EF4-FFF2-40B4-BE49-F238E27FC236}">
                <a16:creationId xmlns:a16="http://schemas.microsoft.com/office/drawing/2014/main" id="{11F3AC5C-4245-F4F6-041B-B226D16962EA}"/>
              </a:ext>
            </a:extLst>
          </p:cNvPr>
          <p:cNvSpPr txBox="1"/>
          <p:nvPr/>
        </p:nvSpPr>
        <p:spPr>
          <a:xfrm>
            <a:off x="32268057" y="30528817"/>
            <a:ext cx="10663643" cy="15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174175" rIns="174175" bIns="174175" anchor="t" anchorCtr="0">
            <a:noAutofit/>
          </a:bodyPr>
          <a:lstStyle/>
          <a:p>
            <a:pPr lvl="0"/>
            <a:r>
              <a:rPr lang="en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[1] C</a:t>
            </a:r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. W. Tan et al. </a:t>
            </a:r>
            <a:r>
              <a:rPr lang="en-US" sz="1100" dirty="0" err="1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Multirocket</a:t>
            </a:r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: multiple pooling operators and transformations for fast and effective time series classification. Data Mining and Knowledge Discovery, 2022</a:t>
            </a:r>
          </a:p>
          <a:p>
            <a:pPr lvl="0"/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[2] J. Wang et al. </a:t>
            </a:r>
            <a:r>
              <a:rPr lang="en-US" sz="1100" dirty="0" err="1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Ceemd-multirocket</a:t>
            </a:r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: Integrating </a:t>
            </a:r>
            <a:r>
              <a:rPr lang="en-US" sz="1100" dirty="0" err="1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ceemd</a:t>
            </a:r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 with improved </a:t>
            </a:r>
            <a:r>
              <a:rPr lang="en-US" sz="1100" dirty="0" err="1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multirocket</a:t>
            </a:r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 for time series classification. Electronics, 2023.</a:t>
            </a:r>
          </a:p>
          <a:p>
            <a:pPr lvl="0"/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[3] Yury Gorishniy, Ivan Rubachev, Valentin Khrulkov, and Artem Babenko. Revisiting Deep Learning Models for Tabular Data, Oct. 2023. arXiv:2106.11959 [cs].</a:t>
            </a:r>
          </a:p>
          <a:p>
            <a:pPr lvl="0"/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[4] Jianwei Zheng, </a:t>
            </a:r>
            <a:r>
              <a:rPr lang="en-US" sz="1100" dirty="0" err="1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Hangyuan</a:t>
            </a:r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 Guo, and Huimin Chu. A large scale 12-lead electrocardiogram database for arrhythmia study. PhysioNet, Aug. 2022. Version 1.0.0.</a:t>
            </a:r>
          </a:p>
          <a:p>
            <a:pPr lvl="0"/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[5] Cui, Y., Jia, M., Lin, T.-Y., Song, Y., &amp; Belongie, S. (2019). Class-balanced loss based on effective number of samples. 2019 IEEE/CVF Conference on Computer Vision and Pattern Recognition (CVPR), 9268–9277. https://</a:t>
            </a:r>
            <a:r>
              <a:rPr lang="en-US" sz="1100" dirty="0" err="1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doi.org</a:t>
            </a:r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/10.1109/cvpr.2019.00949</a:t>
            </a:r>
          </a:p>
          <a:p>
            <a:pPr lvl="0"/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[6] Lin, T.-Y., Goyal, P., </a:t>
            </a:r>
            <a:r>
              <a:rPr lang="en-US" sz="1100" dirty="0" err="1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Girshick</a:t>
            </a:r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, R., He, K., &amp; </a:t>
            </a:r>
            <a:r>
              <a:rPr lang="en-US" sz="1100" dirty="0" err="1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Dollár</a:t>
            </a:r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, P. (2018). Focal loss for dense object detection. </a:t>
            </a:r>
            <a:r>
              <a:rPr lang="en-US" sz="1100" dirty="0" err="1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arXiv</a:t>
            </a:r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https://arxiv.org/abs/1708.02002</a:t>
            </a:r>
            <a:endParaRPr lang="en-US" sz="1100" dirty="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lvl="0"/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[7] G. Batista, R. C. Prati, M. C. Monard. “A study of the behavior of several methods for balancing machine learning training data,” ACM </a:t>
            </a:r>
            <a:r>
              <a:rPr lang="en-US" sz="1100" dirty="0" err="1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Sigkdd</a:t>
            </a:r>
            <a:r>
              <a:rPr lang="en-US" sz="11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 Explorations Newsletter 6 (1), 20-29, 2004.</a:t>
            </a:r>
          </a:p>
          <a:p>
            <a:pPr lvl="0"/>
            <a:endParaRPr sz="1100" dirty="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3">
            <a:extLst>
              <a:ext uri="{FF2B5EF4-FFF2-40B4-BE49-F238E27FC236}">
                <a16:creationId xmlns:a16="http://schemas.microsoft.com/office/drawing/2014/main" id="{3A1175DF-7348-80C8-8B4D-B7FD315D15FC}"/>
              </a:ext>
            </a:extLst>
          </p:cNvPr>
          <p:cNvSpPr txBox="1"/>
          <p:nvPr/>
        </p:nvSpPr>
        <p:spPr>
          <a:xfrm>
            <a:off x="1874901" y="14758410"/>
            <a:ext cx="9659400" cy="10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0" rIns="17417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 dirty="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BACKGROUND</a:t>
            </a:r>
            <a:endParaRPr sz="6100" dirty="0">
              <a:solidFill>
                <a:srgbClr val="0039A6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AD9FED82-25A2-D207-FF63-D1833B99EEC2}"/>
              </a:ext>
            </a:extLst>
          </p:cNvPr>
          <p:cNvSpPr txBox="1"/>
          <p:nvPr/>
        </p:nvSpPr>
        <p:spPr>
          <a:xfrm>
            <a:off x="1826745" y="15828810"/>
            <a:ext cx="9659400" cy="1022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174175" rIns="174175" bIns="174175" anchor="t" anchorCtr="0">
            <a:noAutofit/>
          </a:bodyPr>
          <a:lstStyle/>
          <a:p>
            <a:pPr marL="876300" indent="-685800">
              <a:buClr>
                <a:schemeClr val="accent2"/>
              </a:buClr>
              <a:buSzPts val="3800"/>
              <a:buFont typeface="Proxima Nova"/>
              <a:buChar char="●"/>
            </a:pPr>
            <a:r>
              <a:rPr lang="en-US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12-lead ECG signals capture the heart’s electrical activity from multiple angles</a:t>
            </a:r>
            <a:r>
              <a:rPr lang="en-US" sz="3800" baseline="300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r>
              <a:rPr lang="en-US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  <a:p>
            <a:pPr marL="876300" indent="-685800">
              <a:buClr>
                <a:schemeClr val="accent2"/>
              </a:buClr>
              <a:buSzPts val="3800"/>
              <a:buFont typeface="Proxima Nova"/>
              <a:buChar char="●"/>
            </a:pPr>
            <a:endParaRPr lang="en-US" sz="3800" dirty="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876300" indent="-685800">
              <a:buClr>
                <a:schemeClr val="accent2"/>
              </a:buClr>
              <a:buSzPts val="3800"/>
              <a:buFont typeface="Proxima Nova"/>
              <a:buChar char="●"/>
            </a:pPr>
            <a:r>
              <a:rPr lang="en-US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ECG analysis if crucial for detecting cardiac conditions. Traditional methods use handcrafted features, while deep learning learns representations automatically. MultiROCKET is a powerful feature extractor for time series data</a:t>
            </a:r>
            <a:r>
              <a:rPr lang="en-US" sz="3800" baseline="300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1,2</a:t>
            </a:r>
            <a:r>
              <a:rPr lang="en-US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  <a:p>
            <a:pPr marL="876300" indent="-685800">
              <a:buClr>
                <a:schemeClr val="accent2"/>
              </a:buClr>
              <a:buSzPts val="3800"/>
              <a:buFont typeface="Proxima Nova"/>
              <a:buChar char="●"/>
            </a:pPr>
            <a:endParaRPr lang="en-US" sz="3800" dirty="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876300" indent="-685800">
              <a:buClr>
                <a:schemeClr val="accent2"/>
              </a:buClr>
              <a:buSzPts val="3800"/>
              <a:buFont typeface="Proxima Nova"/>
              <a:buChar char="●"/>
            </a:pPr>
            <a:r>
              <a:rPr lang="en-US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Challenges include multi-label classification, class imbalance, and very high-dimensional features ( &gt;16k from MultiROCKET</a:t>
            </a:r>
            <a:r>
              <a:rPr lang="en-US" sz="3800" baseline="300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1,2</a:t>
            </a:r>
            <a:r>
              <a:rPr lang="en-US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</a:p>
          <a:p>
            <a:pPr marL="876300" indent="-685800">
              <a:buClr>
                <a:schemeClr val="accent2"/>
              </a:buClr>
              <a:buSzPts val="3800"/>
              <a:buFont typeface="Proxima Nova"/>
              <a:buChar char="●"/>
            </a:pPr>
            <a:endParaRPr lang="en-US" sz="3800" dirty="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876300" indent="-685800">
              <a:buClr>
                <a:schemeClr val="accent2"/>
              </a:buClr>
              <a:buSzPts val="3800"/>
              <a:buFont typeface="Proxima Nova"/>
              <a:buChar char="●"/>
            </a:pPr>
            <a:r>
              <a:rPr lang="en-US" sz="38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This study ex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ea typeface="Proxima Nova"/>
                <a:cs typeface="Proxima Nova"/>
                <a:sym typeface="Proxima Nova"/>
              </a:rPr>
              <a:t>plores optimal feature compression and classifier design.</a:t>
            </a:r>
            <a:endParaRPr lang="en-US" sz="3800" dirty="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7" name="Google Shape;97;p13">
            <a:extLst>
              <a:ext uri="{FF2B5EF4-FFF2-40B4-BE49-F238E27FC236}">
                <a16:creationId xmlns:a16="http://schemas.microsoft.com/office/drawing/2014/main" id="{A97DA76A-309C-B608-1951-DEDE6EAF3708}"/>
              </a:ext>
            </a:extLst>
          </p:cNvPr>
          <p:cNvSpPr txBox="1"/>
          <p:nvPr/>
        </p:nvSpPr>
        <p:spPr>
          <a:xfrm>
            <a:off x="1874901" y="8814221"/>
            <a:ext cx="9659400" cy="12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0" rIns="1741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 dirty="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ABSTRACT</a:t>
            </a:r>
            <a:endParaRPr sz="6100" dirty="0">
              <a:solidFill>
                <a:srgbClr val="0039A6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99" name="Google Shape;99;p13">
            <a:extLst>
              <a:ext uri="{FF2B5EF4-FFF2-40B4-BE49-F238E27FC236}">
                <a16:creationId xmlns:a16="http://schemas.microsoft.com/office/drawing/2014/main" id="{096F482D-27B8-102C-D6A6-7354E24BD39A}"/>
              </a:ext>
            </a:extLst>
          </p:cNvPr>
          <p:cNvSpPr txBox="1"/>
          <p:nvPr/>
        </p:nvSpPr>
        <p:spPr>
          <a:xfrm>
            <a:off x="12091368" y="6697266"/>
            <a:ext cx="199968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174175" rIns="174175" bIns="174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 dirty="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RESEARCH</a:t>
            </a:r>
            <a:endParaRPr sz="9000" dirty="0">
              <a:solidFill>
                <a:srgbClr val="0039A6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cxnSp>
        <p:nvCxnSpPr>
          <p:cNvPr id="101" name="Google Shape;101;p13">
            <a:extLst>
              <a:ext uri="{FF2B5EF4-FFF2-40B4-BE49-F238E27FC236}">
                <a16:creationId xmlns:a16="http://schemas.microsoft.com/office/drawing/2014/main" id="{5321EEEF-EF26-FFC2-6DF3-3A8D5BDD7C3B}"/>
              </a:ext>
            </a:extLst>
          </p:cNvPr>
          <p:cNvCxnSpPr/>
          <p:nvPr/>
        </p:nvCxnSpPr>
        <p:spPr>
          <a:xfrm>
            <a:off x="2226278" y="8461581"/>
            <a:ext cx="39438600" cy="0"/>
          </a:xfrm>
          <a:prstGeom prst="straightConnector1">
            <a:avLst/>
          </a:prstGeom>
          <a:noFill/>
          <a:ln w="38100" cap="flat" cmpd="sng">
            <a:solidFill>
              <a:srgbClr val="358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3">
            <a:extLst>
              <a:ext uri="{FF2B5EF4-FFF2-40B4-BE49-F238E27FC236}">
                <a16:creationId xmlns:a16="http://schemas.microsoft.com/office/drawing/2014/main" id="{B2B81D80-B876-3461-643E-B152BD401D79}"/>
              </a:ext>
            </a:extLst>
          </p:cNvPr>
          <p:cNvSpPr/>
          <p:nvPr/>
        </p:nvSpPr>
        <p:spPr>
          <a:xfrm>
            <a:off x="22874180" y="10528154"/>
            <a:ext cx="463532" cy="463358"/>
          </a:xfrm>
          <a:custGeom>
            <a:avLst/>
            <a:gdLst/>
            <a:ahLst/>
            <a:cxnLst/>
            <a:rect l="l" t="t" r="r" b="b"/>
            <a:pathLst>
              <a:path w="17364" h="17364" extrusionOk="0">
                <a:moveTo>
                  <a:pt x="16332" y="1032"/>
                </a:moveTo>
                <a:lnTo>
                  <a:pt x="16332" y="2740"/>
                </a:lnTo>
                <a:cubicBezTo>
                  <a:pt x="15977" y="2651"/>
                  <a:pt x="15599" y="2607"/>
                  <a:pt x="15223" y="2607"/>
                </a:cubicBezTo>
                <a:cubicBezTo>
                  <a:pt x="14544" y="2607"/>
                  <a:pt x="13870" y="2750"/>
                  <a:pt x="13343" y="3024"/>
                </a:cubicBezTo>
                <a:cubicBezTo>
                  <a:pt x="12969" y="3220"/>
                  <a:pt x="12453" y="3318"/>
                  <a:pt x="11937" y="3318"/>
                </a:cubicBezTo>
                <a:cubicBezTo>
                  <a:pt x="11421" y="3318"/>
                  <a:pt x="10906" y="3220"/>
                  <a:pt x="10532" y="3024"/>
                </a:cubicBezTo>
                <a:cubicBezTo>
                  <a:pt x="10016" y="2758"/>
                  <a:pt x="9349" y="2624"/>
                  <a:pt x="8677" y="2624"/>
                </a:cubicBezTo>
                <a:cubicBezTo>
                  <a:pt x="8006" y="2624"/>
                  <a:pt x="7330" y="2758"/>
                  <a:pt x="6796" y="3024"/>
                </a:cubicBezTo>
                <a:cubicBezTo>
                  <a:pt x="6422" y="3220"/>
                  <a:pt x="5906" y="3318"/>
                  <a:pt x="5395" y="3318"/>
                </a:cubicBezTo>
                <a:cubicBezTo>
                  <a:pt x="4883" y="3318"/>
                  <a:pt x="4376" y="3220"/>
                  <a:pt x="4021" y="3024"/>
                </a:cubicBezTo>
                <a:cubicBezTo>
                  <a:pt x="3471" y="2750"/>
                  <a:pt x="2789" y="2607"/>
                  <a:pt x="2116" y="2607"/>
                </a:cubicBezTo>
                <a:cubicBezTo>
                  <a:pt x="1744" y="2607"/>
                  <a:pt x="1374" y="2651"/>
                  <a:pt x="1032" y="2740"/>
                </a:cubicBezTo>
                <a:lnTo>
                  <a:pt x="1032" y="1032"/>
                </a:lnTo>
                <a:close/>
                <a:moveTo>
                  <a:pt x="15193" y="3617"/>
                </a:moveTo>
                <a:cubicBezTo>
                  <a:pt x="15597" y="3617"/>
                  <a:pt x="16000" y="3681"/>
                  <a:pt x="16332" y="3807"/>
                </a:cubicBezTo>
                <a:lnTo>
                  <a:pt x="16332" y="5586"/>
                </a:lnTo>
                <a:cubicBezTo>
                  <a:pt x="15977" y="5497"/>
                  <a:pt x="15599" y="5454"/>
                  <a:pt x="15223" y="5454"/>
                </a:cubicBezTo>
                <a:cubicBezTo>
                  <a:pt x="14544" y="5454"/>
                  <a:pt x="13870" y="5596"/>
                  <a:pt x="13343" y="5871"/>
                </a:cubicBezTo>
                <a:cubicBezTo>
                  <a:pt x="12969" y="6067"/>
                  <a:pt x="12462" y="6164"/>
                  <a:pt x="11951" y="6164"/>
                </a:cubicBezTo>
                <a:cubicBezTo>
                  <a:pt x="11439" y="6164"/>
                  <a:pt x="10923" y="6067"/>
                  <a:pt x="10532" y="5871"/>
                </a:cubicBezTo>
                <a:cubicBezTo>
                  <a:pt x="10016" y="5586"/>
                  <a:pt x="9349" y="5444"/>
                  <a:pt x="8677" y="5444"/>
                </a:cubicBezTo>
                <a:cubicBezTo>
                  <a:pt x="8006" y="5444"/>
                  <a:pt x="7330" y="5586"/>
                  <a:pt x="6796" y="5871"/>
                </a:cubicBezTo>
                <a:cubicBezTo>
                  <a:pt x="6422" y="6067"/>
                  <a:pt x="5906" y="6164"/>
                  <a:pt x="5391" y="6164"/>
                </a:cubicBezTo>
                <a:cubicBezTo>
                  <a:pt x="4875" y="6164"/>
                  <a:pt x="4359" y="6067"/>
                  <a:pt x="3985" y="5871"/>
                </a:cubicBezTo>
                <a:cubicBezTo>
                  <a:pt x="3458" y="5596"/>
                  <a:pt x="2784" y="5454"/>
                  <a:pt x="2114" y="5454"/>
                </a:cubicBezTo>
                <a:cubicBezTo>
                  <a:pt x="1744" y="5454"/>
                  <a:pt x="1374" y="5497"/>
                  <a:pt x="1032" y="5586"/>
                </a:cubicBezTo>
                <a:lnTo>
                  <a:pt x="1032" y="3807"/>
                </a:lnTo>
                <a:cubicBezTo>
                  <a:pt x="1364" y="3681"/>
                  <a:pt x="1766" y="3617"/>
                  <a:pt x="2170" y="3617"/>
                </a:cubicBezTo>
                <a:cubicBezTo>
                  <a:pt x="2675" y="3617"/>
                  <a:pt x="3183" y="3716"/>
                  <a:pt x="3558" y="3914"/>
                </a:cubicBezTo>
                <a:cubicBezTo>
                  <a:pt x="4074" y="4181"/>
                  <a:pt x="4741" y="4314"/>
                  <a:pt x="5413" y="4314"/>
                </a:cubicBezTo>
                <a:cubicBezTo>
                  <a:pt x="6084" y="4314"/>
                  <a:pt x="6760" y="4181"/>
                  <a:pt x="7294" y="3914"/>
                </a:cubicBezTo>
                <a:cubicBezTo>
                  <a:pt x="7668" y="3718"/>
                  <a:pt x="8175" y="3620"/>
                  <a:pt x="8682" y="3620"/>
                </a:cubicBezTo>
                <a:cubicBezTo>
                  <a:pt x="9189" y="3620"/>
                  <a:pt x="9696" y="3718"/>
                  <a:pt x="10069" y="3914"/>
                </a:cubicBezTo>
                <a:cubicBezTo>
                  <a:pt x="10603" y="4199"/>
                  <a:pt x="11244" y="4305"/>
                  <a:pt x="11920" y="4305"/>
                </a:cubicBezTo>
                <a:cubicBezTo>
                  <a:pt x="12596" y="4305"/>
                  <a:pt x="13272" y="4199"/>
                  <a:pt x="13805" y="3914"/>
                </a:cubicBezTo>
                <a:cubicBezTo>
                  <a:pt x="14181" y="3716"/>
                  <a:pt x="14688" y="3617"/>
                  <a:pt x="15193" y="3617"/>
                </a:cubicBezTo>
                <a:close/>
                <a:moveTo>
                  <a:pt x="15182" y="6464"/>
                </a:moveTo>
                <a:cubicBezTo>
                  <a:pt x="15590" y="6464"/>
                  <a:pt x="16000" y="6527"/>
                  <a:pt x="16332" y="6654"/>
                </a:cubicBezTo>
                <a:lnTo>
                  <a:pt x="16332" y="8290"/>
                </a:lnTo>
                <a:cubicBezTo>
                  <a:pt x="15977" y="8202"/>
                  <a:pt x="15599" y="8158"/>
                  <a:pt x="15223" y="8158"/>
                </a:cubicBezTo>
                <a:cubicBezTo>
                  <a:pt x="14544" y="8158"/>
                  <a:pt x="13870" y="8300"/>
                  <a:pt x="13343" y="8575"/>
                </a:cubicBezTo>
                <a:cubicBezTo>
                  <a:pt x="12969" y="8771"/>
                  <a:pt x="12453" y="8868"/>
                  <a:pt x="11937" y="8868"/>
                </a:cubicBezTo>
                <a:cubicBezTo>
                  <a:pt x="11421" y="8868"/>
                  <a:pt x="10906" y="8771"/>
                  <a:pt x="10532" y="8575"/>
                </a:cubicBezTo>
                <a:cubicBezTo>
                  <a:pt x="10016" y="8308"/>
                  <a:pt x="9349" y="8175"/>
                  <a:pt x="8682" y="8175"/>
                </a:cubicBezTo>
                <a:cubicBezTo>
                  <a:pt x="8015" y="8175"/>
                  <a:pt x="7347" y="8308"/>
                  <a:pt x="6832" y="8575"/>
                </a:cubicBezTo>
                <a:cubicBezTo>
                  <a:pt x="6458" y="8771"/>
                  <a:pt x="5942" y="8868"/>
                  <a:pt x="5426" y="8868"/>
                </a:cubicBezTo>
                <a:cubicBezTo>
                  <a:pt x="4910" y="8868"/>
                  <a:pt x="4394" y="8771"/>
                  <a:pt x="4021" y="8575"/>
                </a:cubicBezTo>
                <a:cubicBezTo>
                  <a:pt x="3494" y="8300"/>
                  <a:pt x="2805" y="8158"/>
                  <a:pt x="2115" y="8158"/>
                </a:cubicBezTo>
                <a:cubicBezTo>
                  <a:pt x="1733" y="8158"/>
                  <a:pt x="1351" y="8202"/>
                  <a:pt x="996" y="8290"/>
                </a:cubicBezTo>
                <a:lnTo>
                  <a:pt x="996" y="6654"/>
                </a:lnTo>
                <a:cubicBezTo>
                  <a:pt x="1344" y="6527"/>
                  <a:pt x="1755" y="6464"/>
                  <a:pt x="2164" y="6464"/>
                </a:cubicBezTo>
                <a:cubicBezTo>
                  <a:pt x="2675" y="6464"/>
                  <a:pt x="3183" y="6563"/>
                  <a:pt x="3558" y="6760"/>
                </a:cubicBezTo>
                <a:cubicBezTo>
                  <a:pt x="4074" y="7027"/>
                  <a:pt x="4741" y="7161"/>
                  <a:pt x="5413" y="7161"/>
                </a:cubicBezTo>
                <a:cubicBezTo>
                  <a:pt x="6084" y="7161"/>
                  <a:pt x="6760" y="7027"/>
                  <a:pt x="7294" y="6760"/>
                </a:cubicBezTo>
                <a:cubicBezTo>
                  <a:pt x="7650" y="6565"/>
                  <a:pt x="8157" y="6467"/>
                  <a:pt x="8668" y="6467"/>
                </a:cubicBezTo>
                <a:cubicBezTo>
                  <a:pt x="9180" y="6467"/>
                  <a:pt x="9696" y="6565"/>
                  <a:pt x="10069" y="6760"/>
                </a:cubicBezTo>
                <a:cubicBezTo>
                  <a:pt x="10568" y="7045"/>
                  <a:pt x="11244" y="7152"/>
                  <a:pt x="11920" y="7152"/>
                </a:cubicBezTo>
                <a:cubicBezTo>
                  <a:pt x="12596" y="7152"/>
                  <a:pt x="13272" y="7045"/>
                  <a:pt x="13805" y="6760"/>
                </a:cubicBezTo>
                <a:cubicBezTo>
                  <a:pt x="14161" y="6563"/>
                  <a:pt x="14671" y="6464"/>
                  <a:pt x="15182" y="6464"/>
                </a:cubicBezTo>
                <a:close/>
                <a:moveTo>
                  <a:pt x="8682" y="9171"/>
                </a:moveTo>
                <a:cubicBezTo>
                  <a:pt x="9189" y="9171"/>
                  <a:pt x="9696" y="9269"/>
                  <a:pt x="10069" y="9464"/>
                </a:cubicBezTo>
                <a:cubicBezTo>
                  <a:pt x="10603" y="9749"/>
                  <a:pt x="11279" y="9891"/>
                  <a:pt x="11955" y="9891"/>
                </a:cubicBezTo>
                <a:cubicBezTo>
                  <a:pt x="12631" y="9891"/>
                  <a:pt x="13272" y="9749"/>
                  <a:pt x="13805" y="9464"/>
                </a:cubicBezTo>
                <a:cubicBezTo>
                  <a:pt x="14192" y="9281"/>
                  <a:pt x="14720" y="9179"/>
                  <a:pt x="15240" y="9179"/>
                </a:cubicBezTo>
                <a:cubicBezTo>
                  <a:pt x="15628" y="9179"/>
                  <a:pt x="16012" y="9236"/>
                  <a:pt x="16332" y="9358"/>
                </a:cubicBezTo>
                <a:lnTo>
                  <a:pt x="16332" y="10994"/>
                </a:lnTo>
                <a:cubicBezTo>
                  <a:pt x="15977" y="10906"/>
                  <a:pt x="15599" y="10862"/>
                  <a:pt x="15223" y="10862"/>
                </a:cubicBezTo>
                <a:cubicBezTo>
                  <a:pt x="14544" y="10862"/>
                  <a:pt x="13870" y="11004"/>
                  <a:pt x="13343" y="11279"/>
                </a:cubicBezTo>
                <a:cubicBezTo>
                  <a:pt x="12969" y="11475"/>
                  <a:pt x="12453" y="11573"/>
                  <a:pt x="11937" y="11573"/>
                </a:cubicBezTo>
                <a:cubicBezTo>
                  <a:pt x="11421" y="11573"/>
                  <a:pt x="10906" y="11475"/>
                  <a:pt x="10532" y="11279"/>
                </a:cubicBezTo>
                <a:cubicBezTo>
                  <a:pt x="10016" y="11012"/>
                  <a:pt x="9349" y="10879"/>
                  <a:pt x="8677" y="10879"/>
                </a:cubicBezTo>
                <a:cubicBezTo>
                  <a:pt x="8006" y="10879"/>
                  <a:pt x="7330" y="11012"/>
                  <a:pt x="6796" y="11279"/>
                </a:cubicBezTo>
                <a:cubicBezTo>
                  <a:pt x="6422" y="11475"/>
                  <a:pt x="5906" y="11573"/>
                  <a:pt x="5391" y="11573"/>
                </a:cubicBezTo>
                <a:cubicBezTo>
                  <a:pt x="4875" y="11573"/>
                  <a:pt x="4359" y="11475"/>
                  <a:pt x="3985" y="11279"/>
                </a:cubicBezTo>
                <a:cubicBezTo>
                  <a:pt x="3460" y="11005"/>
                  <a:pt x="2790" y="10878"/>
                  <a:pt x="2122" y="10878"/>
                </a:cubicBezTo>
                <a:cubicBezTo>
                  <a:pt x="1749" y="10878"/>
                  <a:pt x="1377" y="10918"/>
                  <a:pt x="1032" y="10994"/>
                </a:cubicBezTo>
                <a:lnTo>
                  <a:pt x="1032" y="9358"/>
                </a:lnTo>
                <a:cubicBezTo>
                  <a:pt x="1351" y="9236"/>
                  <a:pt x="1736" y="9179"/>
                  <a:pt x="2124" y="9179"/>
                </a:cubicBezTo>
                <a:cubicBezTo>
                  <a:pt x="2644" y="9179"/>
                  <a:pt x="3171" y="9281"/>
                  <a:pt x="3558" y="9464"/>
                </a:cubicBezTo>
                <a:cubicBezTo>
                  <a:pt x="4074" y="9749"/>
                  <a:pt x="4741" y="9891"/>
                  <a:pt x="5413" y="9891"/>
                </a:cubicBezTo>
                <a:cubicBezTo>
                  <a:pt x="6084" y="9891"/>
                  <a:pt x="6760" y="9749"/>
                  <a:pt x="7294" y="9464"/>
                </a:cubicBezTo>
                <a:cubicBezTo>
                  <a:pt x="7668" y="9269"/>
                  <a:pt x="8175" y="9171"/>
                  <a:pt x="8682" y="9171"/>
                </a:cubicBezTo>
                <a:close/>
                <a:moveTo>
                  <a:pt x="15212" y="11898"/>
                </a:moveTo>
                <a:cubicBezTo>
                  <a:pt x="15610" y="11898"/>
                  <a:pt x="16005" y="11953"/>
                  <a:pt x="16332" y="12062"/>
                </a:cubicBezTo>
                <a:lnTo>
                  <a:pt x="16332" y="13734"/>
                </a:lnTo>
                <a:cubicBezTo>
                  <a:pt x="15977" y="13645"/>
                  <a:pt x="15599" y="13602"/>
                  <a:pt x="15223" y="13602"/>
                </a:cubicBezTo>
                <a:cubicBezTo>
                  <a:pt x="14544" y="13602"/>
                  <a:pt x="13870" y="13744"/>
                  <a:pt x="13343" y="14019"/>
                </a:cubicBezTo>
                <a:cubicBezTo>
                  <a:pt x="12969" y="14214"/>
                  <a:pt x="12453" y="14312"/>
                  <a:pt x="11937" y="14312"/>
                </a:cubicBezTo>
                <a:cubicBezTo>
                  <a:pt x="11421" y="14312"/>
                  <a:pt x="10906" y="14214"/>
                  <a:pt x="10532" y="14019"/>
                </a:cubicBezTo>
                <a:cubicBezTo>
                  <a:pt x="10016" y="13752"/>
                  <a:pt x="9349" y="13619"/>
                  <a:pt x="8677" y="13619"/>
                </a:cubicBezTo>
                <a:cubicBezTo>
                  <a:pt x="8006" y="13619"/>
                  <a:pt x="7330" y="13752"/>
                  <a:pt x="6796" y="14019"/>
                </a:cubicBezTo>
                <a:cubicBezTo>
                  <a:pt x="6422" y="14214"/>
                  <a:pt x="5906" y="14312"/>
                  <a:pt x="5391" y="14312"/>
                </a:cubicBezTo>
                <a:cubicBezTo>
                  <a:pt x="4875" y="14312"/>
                  <a:pt x="4359" y="14214"/>
                  <a:pt x="3985" y="14019"/>
                </a:cubicBezTo>
                <a:cubicBezTo>
                  <a:pt x="3460" y="13745"/>
                  <a:pt x="2790" y="13618"/>
                  <a:pt x="2122" y="13618"/>
                </a:cubicBezTo>
                <a:cubicBezTo>
                  <a:pt x="1749" y="13618"/>
                  <a:pt x="1377" y="13658"/>
                  <a:pt x="1032" y="13734"/>
                </a:cubicBezTo>
                <a:lnTo>
                  <a:pt x="1032" y="12062"/>
                </a:lnTo>
                <a:cubicBezTo>
                  <a:pt x="1350" y="11956"/>
                  <a:pt x="1733" y="11901"/>
                  <a:pt x="2120" y="11901"/>
                </a:cubicBezTo>
                <a:cubicBezTo>
                  <a:pt x="2642" y="11901"/>
                  <a:pt x="3170" y="12000"/>
                  <a:pt x="3558" y="12204"/>
                </a:cubicBezTo>
                <a:cubicBezTo>
                  <a:pt x="4066" y="12467"/>
                  <a:pt x="4720" y="12600"/>
                  <a:pt x="5380" y="12600"/>
                </a:cubicBezTo>
                <a:cubicBezTo>
                  <a:pt x="6062" y="12600"/>
                  <a:pt x="6752" y="12458"/>
                  <a:pt x="7294" y="12169"/>
                </a:cubicBezTo>
                <a:cubicBezTo>
                  <a:pt x="7668" y="11991"/>
                  <a:pt x="8175" y="11902"/>
                  <a:pt x="8682" y="11902"/>
                </a:cubicBezTo>
                <a:cubicBezTo>
                  <a:pt x="9189" y="11902"/>
                  <a:pt x="9696" y="11991"/>
                  <a:pt x="10069" y="12169"/>
                </a:cubicBezTo>
                <a:cubicBezTo>
                  <a:pt x="10603" y="12453"/>
                  <a:pt x="11279" y="12596"/>
                  <a:pt x="11955" y="12596"/>
                </a:cubicBezTo>
                <a:cubicBezTo>
                  <a:pt x="12631" y="12596"/>
                  <a:pt x="13272" y="12453"/>
                  <a:pt x="13805" y="12169"/>
                </a:cubicBezTo>
                <a:cubicBezTo>
                  <a:pt x="14186" y="11988"/>
                  <a:pt x="14701" y="11898"/>
                  <a:pt x="15212" y="11898"/>
                </a:cubicBezTo>
                <a:close/>
                <a:moveTo>
                  <a:pt x="15212" y="14638"/>
                </a:moveTo>
                <a:cubicBezTo>
                  <a:pt x="15610" y="14638"/>
                  <a:pt x="16005" y="14693"/>
                  <a:pt x="16332" y="14802"/>
                </a:cubicBezTo>
                <a:lnTo>
                  <a:pt x="16332" y="16332"/>
                </a:lnTo>
                <a:lnTo>
                  <a:pt x="1032" y="16332"/>
                </a:lnTo>
                <a:lnTo>
                  <a:pt x="1032" y="14802"/>
                </a:lnTo>
                <a:cubicBezTo>
                  <a:pt x="1350" y="14695"/>
                  <a:pt x="1733" y="14641"/>
                  <a:pt x="2120" y="14641"/>
                </a:cubicBezTo>
                <a:cubicBezTo>
                  <a:pt x="2642" y="14641"/>
                  <a:pt x="3170" y="14740"/>
                  <a:pt x="3558" y="14944"/>
                </a:cubicBezTo>
                <a:cubicBezTo>
                  <a:pt x="4066" y="15206"/>
                  <a:pt x="4720" y="15340"/>
                  <a:pt x="5380" y="15340"/>
                </a:cubicBezTo>
                <a:cubicBezTo>
                  <a:pt x="6062" y="15340"/>
                  <a:pt x="6752" y="15198"/>
                  <a:pt x="7294" y="14908"/>
                </a:cubicBezTo>
                <a:cubicBezTo>
                  <a:pt x="7668" y="14730"/>
                  <a:pt x="8175" y="14641"/>
                  <a:pt x="8682" y="14641"/>
                </a:cubicBezTo>
                <a:cubicBezTo>
                  <a:pt x="9189" y="14641"/>
                  <a:pt x="9696" y="14730"/>
                  <a:pt x="10069" y="14908"/>
                </a:cubicBezTo>
                <a:cubicBezTo>
                  <a:pt x="10603" y="15193"/>
                  <a:pt x="11279" y="15335"/>
                  <a:pt x="11955" y="15335"/>
                </a:cubicBezTo>
                <a:cubicBezTo>
                  <a:pt x="12631" y="15335"/>
                  <a:pt x="13272" y="15193"/>
                  <a:pt x="13805" y="14908"/>
                </a:cubicBezTo>
                <a:cubicBezTo>
                  <a:pt x="14186" y="14728"/>
                  <a:pt x="14701" y="14638"/>
                  <a:pt x="15212" y="14638"/>
                </a:cubicBezTo>
                <a:close/>
                <a:moveTo>
                  <a:pt x="0" y="0"/>
                </a:moveTo>
                <a:lnTo>
                  <a:pt x="0" y="17363"/>
                </a:lnTo>
                <a:lnTo>
                  <a:pt x="17363" y="17363"/>
                </a:lnTo>
                <a:lnTo>
                  <a:pt x="17363" y="0"/>
                </a:lnTo>
                <a:close/>
              </a:path>
            </a:pathLst>
          </a:custGeom>
          <a:solidFill>
            <a:srgbClr val="FAF6EA"/>
          </a:solidFill>
          <a:ln>
            <a:noFill/>
          </a:ln>
        </p:spPr>
        <p:txBody>
          <a:bodyPr spcFirstLastPara="1" wrap="square" lIns="174175" tIns="174175" rIns="174175" bIns="174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103" name="Google Shape;103;p13">
            <a:extLst>
              <a:ext uri="{FF2B5EF4-FFF2-40B4-BE49-F238E27FC236}">
                <a16:creationId xmlns:a16="http://schemas.microsoft.com/office/drawing/2014/main" id="{803449D9-8E47-7586-4A89-755B8D3E0E7C}"/>
              </a:ext>
            </a:extLst>
          </p:cNvPr>
          <p:cNvSpPr/>
          <p:nvPr/>
        </p:nvSpPr>
        <p:spPr>
          <a:xfrm>
            <a:off x="22778399" y="12178651"/>
            <a:ext cx="655095" cy="653650"/>
          </a:xfrm>
          <a:custGeom>
            <a:avLst/>
            <a:gdLst/>
            <a:ahLst/>
            <a:cxnLst/>
            <a:rect l="l" t="t" r="r" b="b"/>
            <a:pathLst>
              <a:path w="17365" h="17329" extrusionOk="0">
                <a:moveTo>
                  <a:pt x="8185" y="1033"/>
                </a:moveTo>
                <a:lnTo>
                  <a:pt x="8185" y="3061"/>
                </a:lnTo>
                <a:cubicBezTo>
                  <a:pt x="7366" y="3132"/>
                  <a:pt x="6583" y="3381"/>
                  <a:pt x="5907" y="3772"/>
                </a:cubicBezTo>
                <a:cubicBezTo>
                  <a:pt x="5658" y="3630"/>
                  <a:pt x="5374" y="3523"/>
                  <a:pt x="5089" y="3523"/>
                </a:cubicBezTo>
                <a:cubicBezTo>
                  <a:pt x="4840" y="3523"/>
                  <a:pt x="4626" y="3559"/>
                  <a:pt x="4413" y="3666"/>
                </a:cubicBezTo>
                <a:lnTo>
                  <a:pt x="3630" y="2883"/>
                </a:lnTo>
                <a:cubicBezTo>
                  <a:pt x="4911" y="1780"/>
                  <a:pt x="6512" y="1139"/>
                  <a:pt x="8185" y="1033"/>
                </a:cubicBezTo>
                <a:close/>
                <a:moveTo>
                  <a:pt x="5053" y="4555"/>
                </a:moveTo>
                <a:cubicBezTo>
                  <a:pt x="5338" y="4555"/>
                  <a:pt x="5587" y="4769"/>
                  <a:pt x="5587" y="5053"/>
                </a:cubicBezTo>
                <a:cubicBezTo>
                  <a:pt x="5587" y="5338"/>
                  <a:pt x="5338" y="5551"/>
                  <a:pt x="5053" y="5551"/>
                </a:cubicBezTo>
                <a:cubicBezTo>
                  <a:pt x="4804" y="5551"/>
                  <a:pt x="4555" y="5338"/>
                  <a:pt x="4555" y="5053"/>
                </a:cubicBezTo>
                <a:cubicBezTo>
                  <a:pt x="4555" y="4769"/>
                  <a:pt x="4804" y="4555"/>
                  <a:pt x="5053" y="4555"/>
                </a:cubicBezTo>
                <a:close/>
                <a:moveTo>
                  <a:pt x="8185" y="4093"/>
                </a:moveTo>
                <a:lnTo>
                  <a:pt x="8185" y="6868"/>
                </a:lnTo>
                <a:cubicBezTo>
                  <a:pt x="8042" y="6903"/>
                  <a:pt x="7900" y="6975"/>
                  <a:pt x="7793" y="7046"/>
                </a:cubicBezTo>
                <a:lnTo>
                  <a:pt x="6441" y="5694"/>
                </a:lnTo>
                <a:cubicBezTo>
                  <a:pt x="6548" y="5516"/>
                  <a:pt x="6583" y="5267"/>
                  <a:pt x="6583" y="5053"/>
                </a:cubicBezTo>
                <a:cubicBezTo>
                  <a:pt x="6583" y="4875"/>
                  <a:pt x="6583" y="4733"/>
                  <a:pt x="6548" y="4591"/>
                </a:cubicBezTo>
                <a:lnTo>
                  <a:pt x="6512" y="4591"/>
                </a:lnTo>
                <a:cubicBezTo>
                  <a:pt x="7046" y="4342"/>
                  <a:pt x="7580" y="4164"/>
                  <a:pt x="8185" y="4093"/>
                </a:cubicBezTo>
                <a:close/>
                <a:moveTo>
                  <a:pt x="2938" y="3648"/>
                </a:moveTo>
                <a:lnTo>
                  <a:pt x="3701" y="4377"/>
                </a:lnTo>
                <a:cubicBezTo>
                  <a:pt x="3595" y="4591"/>
                  <a:pt x="3559" y="4804"/>
                  <a:pt x="3559" y="5053"/>
                </a:cubicBezTo>
                <a:cubicBezTo>
                  <a:pt x="3559" y="5338"/>
                  <a:pt x="3666" y="5658"/>
                  <a:pt x="3808" y="5872"/>
                </a:cubicBezTo>
                <a:cubicBezTo>
                  <a:pt x="3417" y="6548"/>
                  <a:pt x="3168" y="7330"/>
                  <a:pt x="3096" y="8149"/>
                </a:cubicBezTo>
                <a:lnTo>
                  <a:pt x="1068" y="8149"/>
                </a:lnTo>
                <a:cubicBezTo>
                  <a:pt x="1175" y="6485"/>
                  <a:pt x="1809" y="4891"/>
                  <a:pt x="2938" y="3648"/>
                </a:cubicBezTo>
                <a:close/>
                <a:moveTo>
                  <a:pt x="5729" y="6405"/>
                </a:moveTo>
                <a:lnTo>
                  <a:pt x="7082" y="7757"/>
                </a:lnTo>
                <a:cubicBezTo>
                  <a:pt x="7010" y="7864"/>
                  <a:pt x="6939" y="8006"/>
                  <a:pt x="6904" y="8149"/>
                </a:cubicBezTo>
                <a:lnTo>
                  <a:pt x="4128" y="8149"/>
                </a:lnTo>
                <a:cubicBezTo>
                  <a:pt x="4164" y="7579"/>
                  <a:pt x="4342" y="7010"/>
                  <a:pt x="4626" y="6512"/>
                </a:cubicBezTo>
                <a:cubicBezTo>
                  <a:pt x="4769" y="6548"/>
                  <a:pt x="4911" y="6583"/>
                  <a:pt x="5089" y="6583"/>
                </a:cubicBezTo>
                <a:cubicBezTo>
                  <a:pt x="5302" y="6583"/>
                  <a:pt x="5516" y="6512"/>
                  <a:pt x="5729" y="6405"/>
                </a:cubicBezTo>
                <a:close/>
                <a:moveTo>
                  <a:pt x="9181" y="4093"/>
                </a:moveTo>
                <a:cubicBezTo>
                  <a:pt x="11031" y="4270"/>
                  <a:pt x="12561" y="5587"/>
                  <a:pt x="13095" y="7295"/>
                </a:cubicBezTo>
                <a:cubicBezTo>
                  <a:pt x="12952" y="7366"/>
                  <a:pt x="12846" y="7473"/>
                  <a:pt x="12739" y="7579"/>
                </a:cubicBezTo>
                <a:cubicBezTo>
                  <a:pt x="12561" y="7757"/>
                  <a:pt x="12454" y="7935"/>
                  <a:pt x="12383" y="8149"/>
                </a:cubicBezTo>
                <a:lnTo>
                  <a:pt x="10497" y="8149"/>
                </a:lnTo>
                <a:cubicBezTo>
                  <a:pt x="10319" y="7544"/>
                  <a:pt x="9821" y="7046"/>
                  <a:pt x="9181" y="6868"/>
                </a:cubicBezTo>
                <a:lnTo>
                  <a:pt x="9181" y="4093"/>
                </a:lnTo>
                <a:close/>
                <a:moveTo>
                  <a:pt x="9181" y="1033"/>
                </a:moveTo>
                <a:cubicBezTo>
                  <a:pt x="11067" y="1139"/>
                  <a:pt x="12774" y="1922"/>
                  <a:pt x="14091" y="3239"/>
                </a:cubicBezTo>
                <a:cubicBezTo>
                  <a:pt x="15443" y="4555"/>
                  <a:pt x="16190" y="6299"/>
                  <a:pt x="16333" y="8149"/>
                </a:cubicBezTo>
                <a:lnTo>
                  <a:pt x="15230" y="8149"/>
                </a:lnTo>
                <a:cubicBezTo>
                  <a:pt x="15158" y="7935"/>
                  <a:pt x="15052" y="7757"/>
                  <a:pt x="14874" y="7579"/>
                </a:cubicBezTo>
                <a:cubicBezTo>
                  <a:pt x="14660" y="7366"/>
                  <a:pt x="14411" y="7224"/>
                  <a:pt x="14127" y="7188"/>
                </a:cubicBezTo>
                <a:cubicBezTo>
                  <a:pt x="13486" y="4947"/>
                  <a:pt x="11565" y="3274"/>
                  <a:pt x="9181" y="3061"/>
                </a:cubicBezTo>
                <a:lnTo>
                  <a:pt x="9181" y="1033"/>
                </a:lnTo>
                <a:close/>
                <a:moveTo>
                  <a:pt x="13806" y="8149"/>
                </a:moveTo>
                <a:cubicBezTo>
                  <a:pt x="13949" y="8149"/>
                  <a:pt x="14055" y="8220"/>
                  <a:pt x="14162" y="8291"/>
                </a:cubicBezTo>
                <a:cubicBezTo>
                  <a:pt x="14269" y="8398"/>
                  <a:pt x="14304" y="8505"/>
                  <a:pt x="14304" y="8647"/>
                </a:cubicBezTo>
                <a:cubicBezTo>
                  <a:pt x="14304" y="8789"/>
                  <a:pt x="14269" y="8932"/>
                  <a:pt x="14162" y="9003"/>
                </a:cubicBezTo>
                <a:cubicBezTo>
                  <a:pt x="14055" y="9109"/>
                  <a:pt x="13949" y="9181"/>
                  <a:pt x="13806" y="9181"/>
                </a:cubicBezTo>
                <a:cubicBezTo>
                  <a:pt x="13664" y="9181"/>
                  <a:pt x="13557" y="9109"/>
                  <a:pt x="13450" y="9003"/>
                </a:cubicBezTo>
                <a:cubicBezTo>
                  <a:pt x="13344" y="8932"/>
                  <a:pt x="13308" y="8789"/>
                  <a:pt x="13308" y="8647"/>
                </a:cubicBezTo>
                <a:cubicBezTo>
                  <a:pt x="13308" y="8505"/>
                  <a:pt x="13344" y="8398"/>
                  <a:pt x="13450" y="8291"/>
                </a:cubicBezTo>
                <a:cubicBezTo>
                  <a:pt x="13557" y="8184"/>
                  <a:pt x="13664" y="8149"/>
                  <a:pt x="13806" y="8149"/>
                </a:cubicBezTo>
                <a:close/>
                <a:moveTo>
                  <a:pt x="8683" y="7829"/>
                </a:moveTo>
                <a:cubicBezTo>
                  <a:pt x="9145" y="7829"/>
                  <a:pt x="9537" y="8184"/>
                  <a:pt x="9537" y="8682"/>
                </a:cubicBezTo>
                <a:cubicBezTo>
                  <a:pt x="9537" y="9145"/>
                  <a:pt x="9145" y="9501"/>
                  <a:pt x="8683" y="9501"/>
                </a:cubicBezTo>
                <a:cubicBezTo>
                  <a:pt x="8220" y="9501"/>
                  <a:pt x="7829" y="9145"/>
                  <a:pt x="7829" y="8682"/>
                </a:cubicBezTo>
                <a:cubicBezTo>
                  <a:pt x="7829" y="8184"/>
                  <a:pt x="8220" y="7829"/>
                  <a:pt x="8683" y="7829"/>
                </a:cubicBezTo>
                <a:close/>
                <a:moveTo>
                  <a:pt x="5089" y="11778"/>
                </a:moveTo>
                <a:cubicBezTo>
                  <a:pt x="5338" y="11778"/>
                  <a:pt x="5587" y="11992"/>
                  <a:pt x="5587" y="12276"/>
                </a:cubicBezTo>
                <a:cubicBezTo>
                  <a:pt x="5587" y="12561"/>
                  <a:pt x="5338" y="12774"/>
                  <a:pt x="5089" y="12774"/>
                </a:cubicBezTo>
                <a:cubicBezTo>
                  <a:pt x="4804" y="12774"/>
                  <a:pt x="4555" y="12561"/>
                  <a:pt x="4555" y="12276"/>
                </a:cubicBezTo>
                <a:cubicBezTo>
                  <a:pt x="4555" y="11992"/>
                  <a:pt x="4804" y="11778"/>
                  <a:pt x="5089" y="11778"/>
                </a:cubicBezTo>
                <a:close/>
                <a:moveTo>
                  <a:pt x="6904" y="9181"/>
                </a:moveTo>
                <a:cubicBezTo>
                  <a:pt x="7082" y="9786"/>
                  <a:pt x="7580" y="10284"/>
                  <a:pt x="8185" y="10462"/>
                </a:cubicBezTo>
                <a:lnTo>
                  <a:pt x="8185" y="13237"/>
                </a:lnTo>
                <a:cubicBezTo>
                  <a:pt x="7580" y="13166"/>
                  <a:pt x="7046" y="12988"/>
                  <a:pt x="6548" y="12739"/>
                </a:cubicBezTo>
                <a:cubicBezTo>
                  <a:pt x="6583" y="12596"/>
                  <a:pt x="6583" y="12418"/>
                  <a:pt x="6583" y="12276"/>
                </a:cubicBezTo>
                <a:cubicBezTo>
                  <a:pt x="6583" y="11422"/>
                  <a:pt x="5907" y="10746"/>
                  <a:pt x="5089" y="10746"/>
                </a:cubicBezTo>
                <a:cubicBezTo>
                  <a:pt x="4911" y="10746"/>
                  <a:pt x="4769" y="10782"/>
                  <a:pt x="4626" y="10817"/>
                </a:cubicBezTo>
                <a:cubicBezTo>
                  <a:pt x="4342" y="10319"/>
                  <a:pt x="4164" y="9750"/>
                  <a:pt x="4128" y="9181"/>
                </a:cubicBezTo>
                <a:close/>
                <a:moveTo>
                  <a:pt x="12383" y="9181"/>
                </a:moveTo>
                <a:cubicBezTo>
                  <a:pt x="12454" y="9359"/>
                  <a:pt x="12561" y="9572"/>
                  <a:pt x="12739" y="9750"/>
                </a:cubicBezTo>
                <a:cubicBezTo>
                  <a:pt x="12846" y="9857"/>
                  <a:pt x="12952" y="9928"/>
                  <a:pt x="13095" y="9999"/>
                </a:cubicBezTo>
                <a:cubicBezTo>
                  <a:pt x="12561" y="11742"/>
                  <a:pt x="11067" y="13023"/>
                  <a:pt x="9216" y="13237"/>
                </a:cubicBezTo>
                <a:lnTo>
                  <a:pt x="9216" y="10462"/>
                </a:lnTo>
                <a:cubicBezTo>
                  <a:pt x="9821" y="10284"/>
                  <a:pt x="10319" y="9786"/>
                  <a:pt x="10497" y="9181"/>
                </a:cubicBezTo>
                <a:close/>
                <a:moveTo>
                  <a:pt x="3096" y="9181"/>
                </a:moveTo>
                <a:cubicBezTo>
                  <a:pt x="3168" y="9999"/>
                  <a:pt x="3417" y="10746"/>
                  <a:pt x="3808" y="11422"/>
                </a:cubicBezTo>
                <a:cubicBezTo>
                  <a:pt x="3630" y="11671"/>
                  <a:pt x="3559" y="11956"/>
                  <a:pt x="3559" y="12276"/>
                </a:cubicBezTo>
                <a:cubicBezTo>
                  <a:pt x="3559" y="13130"/>
                  <a:pt x="4235" y="13806"/>
                  <a:pt x="5089" y="13806"/>
                </a:cubicBezTo>
                <a:cubicBezTo>
                  <a:pt x="5374" y="13806"/>
                  <a:pt x="5694" y="13699"/>
                  <a:pt x="5907" y="13557"/>
                </a:cubicBezTo>
                <a:cubicBezTo>
                  <a:pt x="6583" y="13948"/>
                  <a:pt x="7366" y="14198"/>
                  <a:pt x="8185" y="14269"/>
                </a:cubicBezTo>
                <a:lnTo>
                  <a:pt x="8185" y="16297"/>
                </a:lnTo>
                <a:cubicBezTo>
                  <a:pt x="6334" y="16190"/>
                  <a:pt x="4591" y="15407"/>
                  <a:pt x="3274" y="14055"/>
                </a:cubicBezTo>
                <a:cubicBezTo>
                  <a:pt x="1958" y="12739"/>
                  <a:pt x="1175" y="11031"/>
                  <a:pt x="1068" y="9181"/>
                </a:cubicBezTo>
                <a:close/>
                <a:moveTo>
                  <a:pt x="16333" y="9181"/>
                </a:moveTo>
                <a:cubicBezTo>
                  <a:pt x="16226" y="11031"/>
                  <a:pt x="15443" y="12739"/>
                  <a:pt x="14127" y="14055"/>
                </a:cubicBezTo>
                <a:cubicBezTo>
                  <a:pt x="12774" y="15407"/>
                  <a:pt x="11067" y="16190"/>
                  <a:pt x="9216" y="16297"/>
                </a:cubicBezTo>
                <a:lnTo>
                  <a:pt x="9216" y="14269"/>
                </a:lnTo>
                <a:cubicBezTo>
                  <a:pt x="11565" y="14055"/>
                  <a:pt x="13522" y="12383"/>
                  <a:pt x="14127" y="10141"/>
                </a:cubicBezTo>
                <a:cubicBezTo>
                  <a:pt x="14411" y="10106"/>
                  <a:pt x="14660" y="9963"/>
                  <a:pt x="14909" y="9750"/>
                </a:cubicBezTo>
                <a:cubicBezTo>
                  <a:pt x="15052" y="9572"/>
                  <a:pt x="15194" y="9359"/>
                  <a:pt x="15265" y="9181"/>
                </a:cubicBezTo>
                <a:close/>
                <a:moveTo>
                  <a:pt x="8683" y="1"/>
                </a:moveTo>
                <a:cubicBezTo>
                  <a:pt x="6370" y="1"/>
                  <a:pt x="4199" y="890"/>
                  <a:pt x="2563" y="2527"/>
                </a:cubicBezTo>
                <a:cubicBezTo>
                  <a:pt x="926" y="4164"/>
                  <a:pt x="1" y="6334"/>
                  <a:pt x="1" y="8647"/>
                </a:cubicBezTo>
                <a:cubicBezTo>
                  <a:pt x="1" y="10995"/>
                  <a:pt x="926" y="13166"/>
                  <a:pt x="2563" y="14802"/>
                </a:cubicBezTo>
                <a:cubicBezTo>
                  <a:pt x="4199" y="16439"/>
                  <a:pt x="6370" y="17329"/>
                  <a:pt x="8683" y="17329"/>
                </a:cubicBezTo>
                <a:cubicBezTo>
                  <a:pt x="10995" y="17329"/>
                  <a:pt x="13201" y="16439"/>
                  <a:pt x="14803" y="14802"/>
                </a:cubicBezTo>
                <a:cubicBezTo>
                  <a:pt x="16475" y="13166"/>
                  <a:pt x="17364" y="10995"/>
                  <a:pt x="17364" y="8647"/>
                </a:cubicBezTo>
                <a:cubicBezTo>
                  <a:pt x="17364" y="6334"/>
                  <a:pt x="16439" y="4164"/>
                  <a:pt x="14803" y="2527"/>
                </a:cubicBezTo>
                <a:lnTo>
                  <a:pt x="14838" y="2527"/>
                </a:lnTo>
                <a:cubicBezTo>
                  <a:pt x="13201" y="890"/>
                  <a:pt x="10995" y="1"/>
                  <a:pt x="8683" y="1"/>
                </a:cubicBezTo>
                <a:close/>
              </a:path>
            </a:pathLst>
          </a:custGeom>
          <a:solidFill>
            <a:srgbClr val="FAF6EA"/>
          </a:solidFill>
          <a:ln>
            <a:noFill/>
          </a:ln>
        </p:spPr>
        <p:txBody>
          <a:bodyPr spcFirstLastPara="1" wrap="square" lIns="174175" tIns="174175" rIns="174175" bIns="174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3">
            <a:extLst>
              <a:ext uri="{FF2B5EF4-FFF2-40B4-BE49-F238E27FC236}">
                <a16:creationId xmlns:a16="http://schemas.microsoft.com/office/drawing/2014/main" id="{21DD0A75-1EB5-E0F2-2229-D6949D57BE6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399" y="590024"/>
            <a:ext cx="6994700" cy="540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1;p13">
            <a:extLst>
              <a:ext uri="{FF2B5EF4-FFF2-40B4-BE49-F238E27FC236}">
                <a16:creationId xmlns:a16="http://schemas.microsoft.com/office/drawing/2014/main" id="{D1A16109-1F52-1846-C166-7D6A5E59578F}"/>
              </a:ext>
            </a:extLst>
          </p:cNvPr>
          <p:cNvSpPr txBox="1"/>
          <p:nvPr/>
        </p:nvSpPr>
        <p:spPr>
          <a:xfrm>
            <a:off x="12091368" y="8773459"/>
            <a:ext cx="9659400" cy="12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175" tIns="174175" rIns="174175" bIns="174175" anchor="ctr" anchorCtr="0">
            <a:noAutofit/>
          </a:bodyPr>
          <a:lstStyle/>
          <a:p>
            <a:pPr lvl="0"/>
            <a:r>
              <a:rPr lang="en" sz="6100" dirty="0">
                <a:solidFill>
                  <a:srgbClr val="0039A6"/>
                </a:solidFill>
                <a:latin typeface="Oswald Medium"/>
                <a:ea typeface="Oswald Medium"/>
                <a:cs typeface="Oswald Medium"/>
                <a:sym typeface="Oswald Medium"/>
              </a:rPr>
              <a:t>12-LEAD ECG EXAMPLE</a:t>
            </a:r>
            <a:endParaRPr sz="6100" dirty="0">
              <a:solidFill>
                <a:srgbClr val="0039A6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6BE40F8-0362-79D5-D6DA-7BAE6A7D3A4F}"/>
              </a:ext>
            </a:extLst>
          </p:cNvPr>
          <p:cNvSpPr/>
          <p:nvPr/>
        </p:nvSpPr>
        <p:spPr>
          <a:xfrm>
            <a:off x="11714191" y="10041821"/>
            <a:ext cx="20373975" cy="53505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353183-C880-357A-84D7-E3C85DB33CA6}"/>
              </a:ext>
            </a:extLst>
          </p:cNvPr>
          <p:cNvSpPr txBox="1"/>
          <p:nvPr/>
        </p:nvSpPr>
        <p:spPr>
          <a:xfrm>
            <a:off x="13411200" y="10991512"/>
            <a:ext cx="1686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INSERT ECG EXAMPLE PIC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80FECF-5D2D-15CA-CD26-5D0E854E6CD6}"/>
              </a:ext>
            </a:extLst>
          </p:cNvPr>
          <p:cNvSpPr/>
          <p:nvPr/>
        </p:nvSpPr>
        <p:spPr>
          <a:xfrm>
            <a:off x="11714192" y="17617116"/>
            <a:ext cx="20373975" cy="142558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pic>
        <p:nvPicPr>
          <p:cNvPr id="8" name="Graphic 7" descr="Heart with pulse outline">
            <a:extLst>
              <a:ext uri="{FF2B5EF4-FFF2-40B4-BE49-F238E27FC236}">
                <a16:creationId xmlns:a16="http://schemas.microsoft.com/office/drawing/2014/main" id="{61DDAFB9-CAC4-5837-CB7B-52E4820B31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19374" y="18286987"/>
            <a:ext cx="3004950" cy="300495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B8E98A0-9097-11DF-B450-2E4251A54B9B}"/>
              </a:ext>
            </a:extLst>
          </p:cNvPr>
          <p:cNvGrpSpPr/>
          <p:nvPr/>
        </p:nvGrpSpPr>
        <p:grpSpPr>
          <a:xfrm>
            <a:off x="12389663" y="18414577"/>
            <a:ext cx="2774731" cy="2774419"/>
            <a:chOff x="12879313" y="20711168"/>
            <a:chExt cx="3065609" cy="3065609"/>
          </a:xfrm>
        </p:grpSpPr>
        <p:pic>
          <p:nvPicPr>
            <p:cNvPr id="12" name="Graphic 11" descr="Heartbeat outline">
              <a:extLst>
                <a:ext uri="{FF2B5EF4-FFF2-40B4-BE49-F238E27FC236}">
                  <a16:creationId xmlns:a16="http://schemas.microsoft.com/office/drawing/2014/main" id="{119D6440-F6B5-8EB1-4E0F-C4B8B9AD7B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879313" y="20711168"/>
              <a:ext cx="3065609" cy="3065609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131FF09-AACC-4460-663B-7D7F9045D1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24753" y="20861998"/>
              <a:ext cx="2774731" cy="27639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7CFDE48-CE48-49BF-945D-1B721349CE04}"/>
              </a:ext>
            </a:extLst>
          </p:cNvPr>
          <p:cNvGrpSpPr/>
          <p:nvPr/>
        </p:nvGrpSpPr>
        <p:grpSpPr>
          <a:xfrm>
            <a:off x="16511231" y="18538755"/>
            <a:ext cx="2511453" cy="2501414"/>
            <a:chOff x="16301255" y="18551079"/>
            <a:chExt cx="2511453" cy="2501414"/>
          </a:xfrm>
        </p:grpSpPr>
        <p:pic>
          <p:nvPicPr>
            <p:cNvPr id="10" name="Graphic 9" descr="Rocket with solid fill">
              <a:extLst>
                <a:ext uri="{FF2B5EF4-FFF2-40B4-BE49-F238E27FC236}">
                  <a16:creationId xmlns:a16="http://schemas.microsoft.com/office/drawing/2014/main" id="{7029BF5A-086F-B5F9-A87B-AF97332388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427007" y="18808418"/>
              <a:ext cx="1986735" cy="1986735"/>
            </a:xfrm>
            <a:prstGeom prst="rect">
              <a:avLst/>
            </a:prstGeom>
          </p:spPr>
        </p:pic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CEEE7C7-9E2D-2F9C-F7C0-459EF3E9D4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301255" y="18551079"/>
              <a:ext cx="2511453" cy="250141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F9FE9A2-8188-9860-0708-99A7E178D088}"/>
              </a:ext>
            </a:extLst>
          </p:cNvPr>
          <p:cNvSpPr/>
          <p:nvPr/>
        </p:nvSpPr>
        <p:spPr>
          <a:xfrm>
            <a:off x="19835090" y="17977916"/>
            <a:ext cx="3598404" cy="53212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044F1D-8F26-903A-7CFB-38505806785A}"/>
              </a:ext>
            </a:extLst>
          </p:cNvPr>
          <p:cNvSpPr txBox="1"/>
          <p:nvPr/>
        </p:nvSpPr>
        <p:spPr>
          <a:xfrm>
            <a:off x="19739308" y="19069758"/>
            <a:ext cx="35984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Autoencoder Compression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6F3E1C-A201-301B-A5B2-65B86F29C9A9}"/>
              </a:ext>
            </a:extLst>
          </p:cNvPr>
          <p:cNvSpPr txBox="1"/>
          <p:nvPr/>
        </p:nvSpPr>
        <p:spPr>
          <a:xfrm>
            <a:off x="19835089" y="21683513"/>
            <a:ext cx="35984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Structured Pooling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C6D0624-6715-8515-BA12-140CF4A01BEB}"/>
              </a:ext>
            </a:extLst>
          </p:cNvPr>
          <p:cNvGrpSpPr/>
          <p:nvPr/>
        </p:nvGrpSpPr>
        <p:grpSpPr>
          <a:xfrm>
            <a:off x="20106828" y="18151201"/>
            <a:ext cx="844988" cy="841610"/>
            <a:chOff x="20106828" y="18151201"/>
            <a:chExt cx="844988" cy="84161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6476698-13FC-3F90-0C6D-40909C61CF7D}"/>
                </a:ext>
              </a:extLst>
            </p:cNvPr>
            <p:cNvSpPr txBox="1"/>
            <p:nvPr/>
          </p:nvSpPr>
          <p:spPr>
            <a:xfrm>
              <a:off x="20248636" y="18166358"/>
              <a:ext cx="56137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A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4431CB2-2AF9-A7F1-8742-ED6121B22A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106828" y="18151201"/>
              <a:ext cx="844988" cy="84161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376851E-3A44-5A08-EBA9-B8D3A73131ED}"/>
              </a:ext>
            </a:extLst>
          </p:cNvPr>
          <p:cNvGrpSpPr/>
          <p:nvPr/>
        </p:nvGrpSpPr>
        <p:grpSpPr>
          <a:xfrm>
            <a:off x="20106828" y="20764956"/>
            <a:ext cx="844988" cy="841610"/>
            <a:chOff x="20106828" y="18151201"/>
            <a:chExt cx="844988" cy="84161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AE4240D-8CC0-D97E-0615-AE65ADCD3929}"/>
                </a:ext>
              </a:extLst>
            </p:cNvPr>
            <p:cNvSpPr txBox="1"/>
            <p:nvPr/>
          </p:nvSpPr>
          <p:spPr>
            <a:xfrm>
              <a:off x="20248636" y="18166358"/>
              <a:ext cx="56137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B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156A18C-07BD-2E23-E4FD-B68C93AEA2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106828" y="18151201"/>
              <a:ext cx="844988" cy="84161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D5A9D6-2038-EFCC-C26D-A4EAB15BAEFB}"/>
              </a:ext>
            </a:extLst>
          </p:cNvPr>
          <p:cNvGrpSpPr/>
          <p:nvPr/>
        </p:nvGrpSpPr>
        <p:grpSpPr>
          <a:xfrm>
            <a:off x="23957372" y="17977916"/>
            <a:ext cx="3694186" cy="5321233"/>
            <a:chOff x="19739308" y="17977916"/>
            <a:chExt cx="3694186" cy="5321233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E053E38C-4945-C38E-2FDF-C916543FA158}"/>
                </a:ext>
              </a:extLst>
            </p:cNvPr>
            <p:cNvSpPr/>
            <p:nvPr/>
          </p:nvSpPr>
          <p:spPr>
            <a:xfrm>
              <a:off x="19835090" y="17977916"/>
              <a:ext cx="3598404" cy="532123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A83BD78-209E-5ABD-F997-DF0DC9A2C54F}"/>
                </a:ext>
              </a:extLst>
            </p:cNvPr>
            <p:cNvSpPr txBox="1"/>
            <p:nvPr/>
          </p:nvSpPr>
          <p:spPr>
            <a:xfrm>
              <a:off x="19739308" y="19069758"/>
              <a:ext cx="359840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/>
                <a:t>Multi-Layer Perceptron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4C50CF9-F129-7236-374F-B515A08CCE18}"/>
                </a:ext>
              </a:extLst>
            </p:cNvPr>
            <p:cNvSpPr txBox="1"/>
            <p:nvPr/>
          </p:nvSpPr>
          <p:spPr>
            <a:xfrm>
              <a:off x="19835089" y="21683513"/>
              <a:ext cx="359840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/>
                <a:t>FT-Transformer</a:t>
              </a:r>
              <a:r>
                <a:rPr lang="en-US" sz="4000" baseline="30000" dirty="0"/>
                <a:t>3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F3C0CD-F82E-ABAF-3750-CA5B2B169E5A}"/>
                </a:ext>
              </a:extLst>
            </p:cNvPr>
            <p:cNvGrpSpPr/>
            <p:nvPr/>
          </p:nvGrpSpPr>
          <p:grpSpPr>
            <a:xfrm>
              <a:off x="20106828" y="18151201"/>
              <a:ext cx="844988" cy="841610"/>
              <a:chOff x="20106828" y="18151201"/>
              <a:chExt cx="844988" cy="841610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FF6E61C-E30A-712E-1CB0-B0BE0D8A081C}"/>
                  </a:ext>
                </a:extLst>
              </p:cNvPr>
              <p:cNvSpPr txBox="1"/>
              <p:nvPr/>
            </p:nvSpPr>
            <p:spPr>
              <a:xfrm>
                <a:off x="20248636" y="18166358"/>
                <a:ext cx="49885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dirty="0"/>
                  <a:t>1</a:t>
                </a: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81FD1091-5042-3FB2-250D-D85958DFA9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106828" y="18151201"/>
                <a:ext cx="844988" cy="84161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5662159-2AF9-CE69-144B-C67E55D137CA}"/>
                </a:ext>
              </a:extLst>
            </p:cNvPr>
            <p:cNvGrpSpPr/>
            <p:nvPr/>
          </p:nvGrpSpPr>
          <p:grpSpPr>
            <a:xfrm>
              <a:off x="20106828" y="20764956"/>
              <a:ext cx="844988" cy="841610"/>
              <a:chOff x="20106828" y="18151201"/>
              <a:chExt cx="844988" cy="841610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426E1B7-833F-1E54-4F5A-8B2923864AF3}"/>
                  </a:ext>
                </a:extLst>
              </p:cNvPr>
              <p:cNvSpPr txBox="1"/>
              <p:nvPr/>
            </p:nvSpPr>
            <p:spPr>
              <a:xfrm>
                <a:off x="20248636" y="18166358"/>
                <a:ext cx="49885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dirty="0"/>
                  <a:t>2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77089309-9A05-B3BC-D93C-4EA3F44A6D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106828" y="18151201"/>
                <a:ext cx="844988" cy="84161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50338D23-D64C-F13C-B958-329206BFD6A6}"/>
              </a:ext>
            </a:extLst>
          </p:cNvPr>
          <p:cNvSpPr txBox="1"/>
          <p:nvPr/>
        </p:nvSpPr>
        <p:spPr>
          <a:xfrm>
            <a:off x="12186766" y="21185761"/>
            <a:ext cx="35984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12-Lead ECG Signals</a:t>
            </a:r>
            <a:r>
              <a:rPr lang="en-US" sz="4000" baseline="300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6D17AA-486E-9623-6560-D26B172A1413}"/>
              </a:ext>
            </a:extLst>
          </p:cNvPr>
          <p:cNvSpPr txBox="1"/>
          <p:nvPr/>
        </p:nvSpPr>
        <p:spPr>
          <a:xfrm>
            <a:off x="15754171" y="21185760"/>
            <a:ext cx="38693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MultiROCKET</a:t>
            </a:r>
            <a:r>
              <a:rPr lang="en-US" sz="4000" baseline="30000" dirty="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1,2</a:t>
            </a:r>
            <a:endParaRPr lang="en-US" sz="4000" dirty="0"/>
          </a:p>
          <a:p>
            <a:pPr algn="ctr"/>
            <a:r>
              <a:rPr lang="en-US" sz="4000" dirty="0"/>
              <a:t>(16k Features)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676CEE-B39B-3C02-68CD-9DE0091D833F}"/>
              </a:ext>
            </a:extLst>
          </p:cNvPr>
          <p:cNvSpPr txBox="1"/>
          <p:nvPr/>
        </p:nvSpPr>
        <p:spPr>
          <a:xfrm>
            <a:off x="28049996" y="21185760"/>
            <a:ext cx="3598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Classification</a:t>
            </a:r>
          </a:p>
          <a:p>
            <a:pPr algn="ctr"/>
            <a:r>
              <a:rPr lang="en-US" sz="3200" dirty="0"/>
              <a:t>(AF, SVT, SB, SR)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614041A-526F-C5EC-5560-266AC6D5F688}"/>
              </a:ext>
            </a:extLst>
          </p:cNvPr>
          <p:cNvCxnSpPr>
            <a:cxnSpLocks/>
          </p:cNvCxnSpPr>
          <p:nvPr/>
        </p:nvCxnSpPr>
        <p:spPr>
          <a:xfrm>
            <a:off x="15164394" y="19731477"/>
            <a:ext cx="1215199" cy="0"/>
          </a:xfrm>
          <a:prstGeom prst="straightConnector1">
            <a:avLst/>
          </a:prstGeom>
          <a:ln w="57150">
            <a:solidFill>
              <a:srgbClr val="0102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99D5609-CB47-7917-FC69-F2F6809DA933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9227489" y="19731477"/>
            <a:ext cx="511819" cy="1"/>
          </a:xfrm>
          <a:prstGeom prst="straightConnector1">
            <a:avLst/>
          </a:prstGeom>
          <a:ln w="57150">
            <a:solidFill>
              <a:srgbClr val="0102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658CDCA-55F6-910F-7C78-E452FA5357F0}"/>
              </a:ext>
            </a:extLst>
          </p:cNvPr>
          <p:cNvCxnSpPr>
            <a:cxnSpLocks/>
          </p:cNvCxnSpPr>
          <p:nvPr/>
        </p:nvCxnSpPr>
        <p:spPr>
          <a:xfrm>
            <a:off x="23501778" y="19710212"/>
            <a:ext cx="511819" cy="1"/>
          </a:xfrm>
          <a:prstGeom prst="straightConnector1">
            <a:avLst/>
          </a:prstGeom>
          <a:ln w="57150">
            <a:solidFill>
              <a:srgbClr val="0102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50EC08C9-AB10-AF8E-D94B-0E1ED8D29703}"/>
              </a:ext>
            </a:extLst>
          </p:cNvPr>
          <p:cNvCxnSpPr>
            <a:cxnSpLocks/>
          </p:cNvCxnSpPr>
          <p:nvPr/>
        </p:nvCxnSpPr>
        <p:spPr>
          <a:xfrm>
            <a:off x="27797331" y="19688947"/>
            <a:ext cx="781197" cy="0"/>
          </a:xfrm>
          <a:prstGeom prst="straightConnector1">
            <a:avLst/>
          </a:prstGeom>
          <a:ln w="57150">
            <a:solidFill>
              <a:srgbClr val="0102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66AB4C35-3308-BB61-82BB-1E8D3DDBFE25}"/>
              </a:ext>
            </a:extLst>
          </p:cNvPr>
          <p:cNvSpPr txBox="1"/>
          <p:nvPr/>
        </p:nvSpPr>
        <p:spPr>
          <a:xfrm>
            <a:off x="21283835" y="25055385"/>
            <a:ext cx="60821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 x 2 ABLATION DESIGN</a:t>
            </a:r>
            <a:endParaRPr lang="en-US" sz="28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0865BC1-AB63-06FC-0400-88D317483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460899"/>
              </p:ext>
            </p:extLst>
          </p:nvPr>
        </p:nvGraphicFramePr>
        <p:xfrm>
          <a:off x="12207086" y="25851064"/>
          <a:ext cx="18882513" cy="4950099"/>
        </p:xfrm>
        <a:graphic>
          <a:graphicData uri="http://schemas.openxmlformats.org/drawingml/2006/table">
            <a:tbl>
              <a:tblPr firstRow="1" bandRow="1">
                <a:tableStyleId>{590C873F-DC00-4B4D-AA6F-92C955A8345C}</a:tableStyleId>
              </a:tblPr>
              <a:tblGrid>
                <a:gridCol w="6294171">
                  <a:extLst>
                    <a:ext uri="{9D8B030D-6E8A-4147-A177-3AD203B41FA5}">
                      <a16:colId xmlns:a16="http://schemas.microsoft.com/office/drawing/2014/main" val="4122737031"/>
                    </a:ext>
                  </a:extLst>
                </a:gridCol>
                <a:gridCol w="6294171">
                  <a:extLst>
                    <a:ext uri="{9D8B030D-6E8A-4147-A177-3AD203B41FA5}">
                      <a16:colId xmlns:a16="http://schemas.microsoft.com/office/drawing/2014/main" val="3217449156"/>
                    </a:ext>
                  </a:extLst>
                </a:gridCol>
                <a:gridCol w="6294171">
                  <a:extLst>
                    <a:ext uri="{9D8B030D-6E8A-4147-A177-3AD203B41FA5}">
                      <a16:colId xmlns:a16="http://schemas.microsoft.com/office/drawing/2014/main" val="3207331795"/>
                    </a:ext>
                  </a:extLst>
                </a:gridCol>
              </a:tblGrid>
              <a:tr h="1307884">
                <a:tc>
                  <a:txBody>
                    <a:bodyPr/>
                    <a:lstStyle/>
                    <a:p>
                      <a:pPr algn="ctr"/>
                      <a:endParaRPr 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696090"/>
                  </a:ext>
                </a:extLst>
              </a:tr>
              <a:tr h="1827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4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  <a:p>
                      <a:pPr algn="ctr"/>
                      <a:endParaRPr 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28492"/>
                  </a:ext>
                </a:extLst>
              </a:tr>
              <a:tr h="1814683">
                <a:tc>
                  <a:txBody>
                    <a:bodyPr/>
                    <a:lstStyle/>
                    <a:p>
                      <a:pPr algn="ctr"/>
                      <a:endParaRPr 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849810"/>
                  </a:ext>
                </a:extLst>
              </a:tr>
            </a:tbl>
          </a:graphicData>
        </a:graphic>
      </p:graphicFrame>
      <p:grpSp>
        <p:nvGrpSpPr>
          <p:cNvPr id="57" name="Group 56">
            <a:extLst>
              <a:ext uri="{FF2B5EF4-FFF2-40B4-BE49-F238E27FC236}">
                <a16:creationId xmlns:a16="http://schemas.microsoft.com/office/drawing/2014/main" id="{47E328B2-D5CC-5025-D382-4DEFCDDDAA70}"/>
              </a:ext>
            </a:extLst>
          </p:cNvPr>
          <p:cNvGrpSpPr/>
          <p:nvPr/>
        </p:nvGrpSpPr>
        <p:grpSpPr>
          <a:xfrm>
            <a:off x="12603861" y="27617516"/>
            <a:ext cx="844988" cy="841610"/>
            <a:chOff x="20106828" y="18151201"/>
            <a:chExt cx="844988" cy="841610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3C2A838-CE6D-993B-95C5-B4A0FAC9A72C}"/>
                </a:ext>
              </a:extLst>
            </p:cNvPr>
            <p:cNvSpPr txBox="1"/>
            <p:nvPr/>
          </p:nvSpPr>
          <p:spPr>
            <a:xfrm>
              <a:off x="20248636" y="18166358"/>
              <a:ext cx="56137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A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8FC85AE-862B-BB11-4645-8484124C7B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106828" y="18151201"/>
              <a:ext cx="844988" cy="84161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285F7541-7D00-EEE6-F23C-A4BCD446D48F}"/>
              </a:ext>
            </a:extLst>
          </p:cNvPr>
          <p:cNvSpPr txBox="1"/>
          <p:nvPr/>
        </p:nvSpPr>
        <p:spPr>
          <a:xfrm>
            <a:off x="13615548" y="27414617"/>
            <a:ext cx="449275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Autoencoder Compression</a:t>
            </a:r>
          </a:p>
          <a:p>
            <a:endParaRPr lang="en-US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666DA79-AFFC-2D58-B2F1-3B424479B06B}"/>
              </a:ext>
            </a:extLst>
          </p:cNvPr>
          <p:cNvGrpSpPr/>
          <p:nvPr/>
        </p:nvGrpSpPr>
        <p:grpSpPr>
          <a:xfrm>
            <a:off x="12566212" y="29316074"/>
            <a:ext cx="844988" cy="841610"/>
            <a:chOff x="20106828" y="18151201"/>
            <a:chExt cx="844988" cy="841610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DEAD7BE-0F14-230D-3F2A-C6F2DDAC72CC}"/>
                </a:ext>
              </a:extLst>
            </p:cNvPr>
            <p:cNvSpPr txBox="1"/>
            <p:nvPr/>
          </p:nvSpPr>
          <p:spPr>
            <a:xfrm>
              <a:off x="20248636" y="18166358"/>
              <a:ext cx="56137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B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CCDBEA9-AFA6-4506-E903-F955AABE66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106828" y="18151201"/>
              <a:ext cx="844988" cy="84161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7D8336BF-FED4-4B44-FF7F-811DA2DAA38C}"/>
              </a:ext>
            </a:extLst>
          </p:cNvPr>
          <p:cNvSpPr txBox="1"/>
          <p:nvPr/>
        </p:nvSpPr>
        <p:spPr>
          <a:xfrm>
            <a:off x="13646306" y="29369726"/>
            <a:ext cx="449275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Structured Pooling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lang="en-US" sz="2400" dirty="0"/>
              <a:t>Max)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60FE6B0-FACD-DBAE-2C47-B8E73F7ED9B8}"/>
              </a:ext>
            </a:extLst>
          </p:cNvPr>
          <p:cNvSpPr txBox="1"/>
          <p:nvPr/>
        </p:nvSpPr>
        <p:spPr>
          <a:xfrm>
            <a:off x="18811623" y="26159907"/>
            <a:ext cx="5556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Multi-Layer Perceptron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BB460E-8CAB-A9A9-7A32-4D1FDEEF1DF2}"/>
              </a:ext>
            </a:extLst>
          </p:cNvPr>
          <p:cNvSpPr txBox="1"/>
          <p:nvPr/>
        </p:nvSpPr>
        <p:spPr>
          <a:xfrm>
            <a:off x="25033091" y="26159907"/>
            <a:ext cx="5556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FT-Transformer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251C0CB-3865-260C-6FDF-B846D8972F5D}"/>
              </a:ext>
            </a:extLst>
          </p:cNvPr>
          <p:cNvGrpSpPr/>
          <p:nvPr/>
        </p:nvGrpSpPr>
        <p:grpSpPr>
          <a:xfrm>
            <a:off x="18629282" y="27606482"/>
            <a:ext cx="959150" cy="885599"/>
            <a:chOff x="19720613" y="27160161"/>
            <a:chExt cx="1013995" cy="1009941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E49045C-76A0-0CF5-2228-EE13ECE49CFB}"/>
                </a:ext>
              </a:extLst>
            </p:cNvPr>
            <p:cNvSpPr txBox="1"/>
            <p:nvPr/>
          </p:nvSpPr>
          <p:spPr>
            <a:xfrm>
              <a:off x="19807787" y="27212024"/>
              <a:ext cx="87556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A1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9C7551E9-EB3A-A22D-2D80-4A5ED3FB26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720613" y="27160161"/>
              <a:ext cx="1013995" cy="10099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8538AC60-DA61-7E33-BCCD-AB3D068D5CC2}"/>
              </a:ext>
            </a:extLst>
          </p:cNvPr>
          <p:cNvSpPr txBox="1"/>
          <p:nvPr/>
        </p:nvSpPr>
        <p:spPr>
          <a:xfrm>
            <a:off x="19678377" y="27701210"/>
            <a:ext cx="5037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Autoencoder + MLP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63B4E9D-D672-90A1-30D8-20F0095989B8}"/>
              </a:ext>
            </a:extLst>
          </p:cNvPr>
          <p:cNvSpPr txBox="1"/>
          <p:nvPr/>
        </p:nvSpPr>
        <p:spPr>
          <a:xfrm>
            <a:off x="19244520" y="28459126"/>
            <a:ext cx="5123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Best Performing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5C720E3-B12E-DDC2-0AE7-76A97296E9DF}"/>
              </a:ext>
            </a:extLst>
          </p:cNvPr>
          <p:cNvGrpSpPr/>
          <p:nvPr/>
        </p:nvGrpSpPr>
        <p:grpSpPr>
          <a:xfrm>
            <a:off x="18646313" y="29369726"/>
            <a:ext cx="959150" cy="885599"/>
            <a:chOff x="19720613" y="27160161"/>
            <a:chExt cx="1013995" cy="1009941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21049BA-FC62-1969-5ED7-39802F977866}"/>
                </a:ext>
              </a:extLst>
            </p:cNvPr>
            <p:cNvSpPr txBox="1"/>
            <p:nvPr/>
          </p:nvSpPr>
          <p:spPr>
            <a:xfrm>
              <a:off x="19807787" y="27212024"/>
              <a:ext cx="925626" cy="8774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B1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75FD42D3-D27D-1211-7962-529F632C1D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720613" y="27160161"/>
              <a:ext cx="1013995" cy="10099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8EC7336D-EF54-1EB1-D70E-7C4AE16E1E84}"/>
              </a:ext>
            </a:extLst>
          </p:cNvPr>
          <p:cNvSpPr txBox="1"/>
          <p:nvPr/>
        </p:nvSpPr>
        <p:spPr>
          <a:xfrm>
            <a:off x="19605463" y="29461265"/>
            <a:ext cx="5037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Pooling + MLP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3A7F374-204B-3CF3-EF0B-E0BE406637A7}"/>
              </a:ext>
            </a:extLst>
          </p:cNvPr>
          <p:cNvGrpSpPr/>
          <p:nvPr/>
        </p:nvGrpSpPr>
        <p:grpSpPr>
          <a:xfrm>
            <a:off x="25002754" y="27522788"/>
            <a:ext cx="959150" cy="885599"/>
            <a:chOff x="19720613" y="27160161"/>
            <a:chExt cx="1013995" cy="1009941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58598C4-D2B3-75A7-F2D7-AD369D08A26D}"/>
                </a:ext>
              </a:extLst>
            </p:cNvPr>
            <p:cNvSpPr txBox="1"/>
            <p:nvPr/>
          </p:nvSpPr>
          <p:spPr>
            <a:xfrm>
              <a:off x="19807787" y="27212024"/>
              <a:ext cx="925626" cy="8774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A2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3A07F29-1CAF-FCED-5970-B80B6DCB5F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720613" y="27160161"/>
              <a:ext cx="1013995" cy="10099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B57DE9EA-6F35-3786-C1A0-9A658B704BF7}"/>
              </a:ext>
            </a:extLst>
          </p:cNvPr>
          <p:cNvSpPr txBox="1"/>
          <p:nvPr/>
        </p:nvSpPr>
        <p:spPr>
          <a:xfrm>
            <a:off x="25756574" y="27400489"/>
            <a:ext cx="50377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Autoencoder + FT-Transformer</a:t>
            </a:r>
          </a:p>
          <a:p>
            <a:pPr algn="ctr"/>
            <a:endParaRPr lang="en-US" sz="4000" dirty="0"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18ED8DE-1526-8432-9580-F4CEC82154C6}"/>
              </a:ext>
            </a:extLst>
          </p:cNvPr>
          <p:cNvGrpSpPr/>
          <p:nvPr/>
        </p:nvGrpSpPr>
        <p:grpSpPr>
          <a:xfrm>
            <a:off x="24965555" y="29310487"/>
            <a:ext cx="959150" cy="885599"/>
            <a:chOff x="19720613" y="27160161"/>
            <a:chExt cx="1013995" cy="1009941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CD2CB0E-A1DA-6997-8BD8-EFE580964609}"/>
                </a:ext>
              </a:extLst>
            </p:cNvPr>
            <p:cNvSpPr txBox="1"/>
            <p:nvPr/>
          </p:nvSpPr>
          <p:spPr>
            <a:xfrm>
              <a:off x="19807787" y="27212024"/>
              <a:ext cx="925626" cy="8774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B2</a:t>
              </a: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386065B-AF27-2B66-7B19-1AA3BE8525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720613" y="27160161"/>
              <a:ext cx="1013995" cy="10099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88AB379D-740B-C560-8807-5FEEBC00BABB}"/>
              </a:ext>
            </a:extLst>
          </p:cNvPr>
          <p:cNvSpPr txBox="1"/>
          <p:nvPr/>
        </p:nvSpPr>
        <p:spPr>
          <a:xfrm>
            <a:off x="25719375" y="29188188"/>
            <a:ext cx="50377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Pooling + FT-Transformer</a:t>
            </a:r>
          </a:p>
          <a:p>
            <a:pPr algn="ctr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8440019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518</Words>
  <Application>Microsoft Macintosh PowerPoint</Application>
  <PresentationFormat>Custom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Oswald Medium</vt:lpstr>
      <vt:lpstr>Proxima Nova</vt:lpstr>
      <vt:lpstr>Simple Light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CSC8851_ProjectPoster_Draft1</dc:title>
  <dc:subject/>
  <dc:creator>Ramita Rathore</dc:creator>
  <cp:keywords/>
  <dc:description/>
  <cp:lastModifiedBy>Ramita Rathore</cp:lastModifiedBy>
  <cp:revision>29</cp:revision>
  <dcterms:modified xsi:type="dcterms:W3CDTF">2026-04-21T21:08:21Z</dcterms:modified>
  <cp:category/>
</cp:coreProperties>
</file>